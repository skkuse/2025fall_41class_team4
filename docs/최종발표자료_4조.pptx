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33"/>
  </p:notesMasterIdLst>
  <p:sldIdLst>
    <p:sldId id="256" r:id="rId2"/>
    <p:sldId id="257" r:id="rId3"/>
    <p:sldId id="262" r:id="rId4"/>
    <p:sldId id="275" r:id="rId5"/>
    <p:sldId id="278" r:id="rId6"/>
    <p:sldId id="265" r:id="rId7"/>
    <p:sldId id="277" r:id="rId8"/>
    <p:sldId id="280" r:id="rId9"/>
    <p:sldId id="268" r:id="rId10"/>
    <p:sldId id="270" r:id="rId11"/>
    <p:sldId id="283" r:id="rId12"/>
    <p:sldId id="282" r:id="rId13"/>
    <p:sldId id="284" r:id="rId14"/>
    <p:sldId id="287" r:id="rId15"/>
    <p:sldId id="286" r:id="rId16"/>
    <p:sldId id="285" r:id="rId17"/>
    <p:sldId id="288" r:id="rId18"/>
    <p:sldId id="269" r:id="rId19"/>
    <p:sldId id="296" r:id="rId20"/>
    <p:sldId id="289" r:id="rId21"/>
    <p:sldId id="302" r:id="rId22"/>
    <p:sldId id="298" r:id="rId23"/>
    <p:sldId id="290" r:id="rId24"/>
    <p:sldId id="301" r:id="rId25"/>
    <p:sldId id="294" r:id="rId26"/>
    <p:sldId id="291" r:id="rId27"/>
    <p:sldId id="295" r:id="rId28"/>
    <p:sldId id="299" r:id="rId29"/>
    <p:sldId id="300" r:id="rId30"/>
    <p:sldId id="272" r:id="rId31"/>
    <p:sldId id="293" r:id="rId32"/>
  </p:sldIdLst>
  <p:sldSz cx="18288000" cy="10287000"/>
  <p:notesSz cx="6858000" cy="9144000"/>
  <p:embeddedFontLst>
    <p:embeddedFont>
      <p:font typeface="Pretendard" panose="02000503000000020004" pitchFamily="2" charset="-127"/>
      <p:regular r:id="rId34"/>
      <p:bold r:id="rId35"/>
    </p:embeddedFont>
    <p:embeddedFont>
      <p:font typeface="Pretendard Medium" panose="02000503000000020004" pitchFamily="2" charset="-127"/>
      <p:regular r:id="rId36"/>
    </p:embeddedFont>
    <p:embeddedFont>
      <p:font typeface="Pretendard SemiBold" panose="02000503000000020004" pitchFamily="2" charset="-127"/>
      <p:regular r:id="rId37"/>
      <p:bold r:id="rId38"/>
    </p:embeddedFont>
    <p:embeddedFont>
      <p:font typeface="맑은 고딕" panose="020B0503020000020004" pitchFamily="34" charset="-127"/>
      <p:regular r:id="rId39"/>
      <p:bold r:id="rId40"/>
    </p:embeddedFont>
    <p:embeddedFont>
      <p:font typeface="Beautifully Delicious Script" pitchFamily="2" charset="0"/>
      <p:regular r:id="rId4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702" autoAdjust="0"/>
    <p:restoredTop sz="94646" autoAdjust="0"/>
  </p:normalViewPr>
  <p:slideViewPr>
    <p:cSldViewPr>
      <p:cViewPr varScale="1">
        <p:scale>
          <a:sx n="69" d="100"/>
          <a:sy n="69" d="100"/>
        </p:scale>
        <p:origin x="856" y="2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6.fntdata"/><Relationship Id="rId21" Type="http://schemas.openxmlformats.org/officeDocument/2006/relationships/slide" Target="slides/slide20.xml"/><Relationship Id="rId34" Type="http://schemas.openxmlformats.org/officeDocument/2006/relationships/font" Target="fonts/font1.fntdata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4.fntdata"/><Relationship Id="rId40" Type="http://schemas.openxmlformats.org/officeDocument/2006/relationships/font" Target="fonts/font7.fntdata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2.fntdata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font" Target="fonts/font5.fntdata"/><Relationship Id="rId20" Type="http://schemas.openxmlformats.org/officeDocument/2006/relationships/slide" Target="slides/slide19.xml"/><Relationship Id="rId41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149E46-7C79-4F02-92E0-094680E41087}" type="datetimeFigureOut">
              <a:rPr lang="ko-KR" altLang="en-US" smtClean="0"/>
              <a:t>2025. 12. 12.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EAD039-305A-4B13-984B-8722CFED26A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38732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안녕하세요</a:t>
            </a:r>
            <a:r>
              <a:rPr lang="en-US" altLang="ko-KR" dirty="0"/>
              <a:t>. LLM</a:t>
            </a:r>
            <a:r>
              <a:rPr lang="ko-KR" altLang="en-US" dirty="0"/>
              <a:t>기반 공연 영화 추천 플랫폼</a:t>
            </a:r>
            <a:r>
              <a:rPr lang="en-US" altLang="ko-KR" dirty="0"/>
              <a:t>, LLMUSE </a:t>
            </a:r>
            <a:r>
              <a:rPr lang="ko-KR" altLang="en-US" dirty="0"/>
              <a:t>최종 발표를 하게 된 김군도입니다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EAD039-305A-4B13-984B-8722CFED26A5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121217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오늘 발표는 프로젝트 개요</a:t>
            </a:r>
            <a:r>
              <a:rPr lang="en-US" altLang="ko-KR" dirty="0"/>
              <a:t>, </a:t>
            </a:r>
            <a:r>
              <a:rPr lang="ko-KR" altLang="en-US" dirty="0"/>
              <a:t>주요 기능</a:t>
            </a:r>
            <a:r>
              <a:rPr lang="en-US" altLang="ko-KR" dirty="0"/>
              <a:t>, </a:t>
            </a:r>
            <a:r>
              <a:rPr lang="ko-KR" altLang="en-US" dirty="0"/>
              <a:t>기술 사항</a:t>
            </a:r>
            <a:r>
              <a:rPr lang="en-US" altLang="ko-KR" dirty="0"/>
              <a:t>, </a:t>
            </a:r>
            <a:r>
              <a:rPr lang="ko-KR" altLang="en-US" dirty="0"/>
              <a:t>실행 예시 순으로 진행될 예정입니다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EAD039-305A-4B13-984B-8722CFED26A5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97189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먼저 프로젝트 개요입니다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EAD039-305A-4B13-984B-8722CFED26A5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596864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저희 프로젝트는 유저들에게 영화</a:t>
            </a:r>
            <a:r>
              <a:rPr lang="en-US" altLang="ko-KR" dirty="0"/>
              <a:t>, </a:t>
            </a:r>
            <a:r>
              <a:rPr lang="ko-KR" altLang="en-US" dirty="0"/>
              <a:t>공연에 대한 정보를 제공하며 유저 취향과 상황 기반으로 다른 영화나 공연을 추천해 관심도를 높입니다</a:t>
            </a:r>
            <a:r>
              <a:rPr lang="en-US" altLang="ko-KR" dirty="0"/>
              <a:t>. </a:t>
            </a:r>
            <a:r>
              <a:rPr lang="ko-KR" altLang="en-US" dirty="0"/>
              <a:t>이후 영화나 공연에 대한 정보</a:t>
            </a:r>
            <a:r>
              <a:rPr lang="en-US" altLang="ko-KR" dirty="0"/>
              <a:t>, </a:t>
            </a:r>
            <a:r>
              <a:rPr lang="ko-KR" altLang="en-US" dirty="0"/>
              <a:t>예매 페이지 </a:t>
            </a:r>
            <a:r>
              <a:rPr lang="ko-KR" altLang="en-US" dirty="0" err="1"/>
              <a:t>제공등으로</a:t>
            </a:r>
            <a:r>
              <a:rPr lang="ko-KR" altLang="en-US" dirty="0"/>
              <a:t> 실질적인 사용으로 이어지도록 하였습니다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EAD039-305A-4B13-984B-8722CFED26A5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76182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저희 프로젝트에 대한 전반적인 순서입니다</a:t>
            </a:r>
            <a:r>
              <a:rPr lang="en-US" altLang="ko-KR" dirty="0"/>
              <a:t>. </a:t>
            </a:r>
            <a:r>
              <a:rPr lang="ko-KR" altLang="en-US" dirty="0"/>
              <a:t>유저가 입력을 하게 되면</a:t>
            </a:r>
            <a:r>
              <a:rPr lang="en-US" altLang="ko-KR" dirty="0"/>
              <a:t>, </a:t>
            </a:r>
            <a:r>
              <a:rPr lang="ko-KR" altLang="en-US" dirty="0" err="1"/>
              <a:t>백엔드에서</a:t>
            </a:r>
            <a:r>
              <a:rPr lang="ko-KR" altLang="en-US" dirty="0"/>
              <a:t> 질문을 분석하고</a:t>
            </a:r>
            <a:r>
              <a:rPr lang="en-US" altLang="ko-KR" dirty="0"/>
              <a:t>, </a:t>
            </a:r>
            <a:r>
              <a:rPr lang="ko-KR" altLang="en-US" dirty="0"/>
              <a:t>데이터에서 검색을 하게 됩니다</a:t>
            </a:r>
            <a:r>
              <a:rPr lang="en-US" altLang="ko-KR" dirty="0"/>
              <a:t>. </a:t>
            </a:r>
            <a:r>
              <a:rPr lang="ko-KR" altLang="en-US" dirty="0"/>
              <a:t>이 검색한 내용을 바탕으로 답변을 만들어 유저에게 전달되게 됩니다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EAD039-305A-4B13-984B-8722CFED26A5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753964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다음은 주요 기능입니다</a:t>
            </a:r>
            <a:r>
              <a:rPr lang="en-US" altLang="ko-KR" dirty="0"/>
              <a:t>. 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EAD039-305A-4B13-984B-8722CFED26A5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113164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영화의 경우에는 영화 검색</a:t>
            </a:r>
            <a:r>
              <a:rPr lang="en-US" altLang="ko-KR" dirty="0"/>
              <a:t>, </a:t>
            </a:r>
            <a:r>
              <a:rPr lang="ko-KR" altLang="en-US" dirty="0"/>
              <a:t>배우나 감독 검색</a:t>
            </a:r>
            <a:r>
              <a:rPr lang="en-US" altLang="ko-KR" dirty="0"/>
              <a:t>, </a:t>
            </a:r>
            <a:r>
              <a:rPr lang="ko-KR" altLang="en-US" dirty="0"/>
              <a:t>영화 추천</a:t>
            </a:r>
            <a:r>
              <a:rPr lang="en-US" altLang="ko-KR" dirty="0"/>
              <a:t>, </a:t>
            </a:r>
            <a:r>
              <a:rPr lang="ko-KR" altLang="en-US" dirty="0"/>
              <a:t>박스오피스 순위 </a:t>
            </a:r>
            <a:r>
              <a:rPr lang="ko-KR" altLang="en-US" dirty="0" err="1"/>
              <a:t>확인등의</a:t>
            </a:r>
            <a:r>
              <a:rPr lang="ko-KR" altLang="en-US" dirty="0"/>
              <a:t> 기능이 있습니다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EAD039-305A-4B13-984B-8722CFED26A5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1160797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공연의 경우에는 공연 검색</a:t>
            </a:r>
            <a:r>
              <a:rPr lang="en-US" altLang="ko-KR" dirty="0"/>
              <a:t>, </a:t>
            </a:r>
            <a:r>
              <a:rPr lang="ko-KR" altLang="en-US" dirty="0"/>
              <a:t>지역을 기반으로 한 공연 검색</a:t>
            </a:r>
            <a:r>
              <a:rPr lang="en-US" altLang="ko-KR" dirty="0"/>
              <a:t>, </a:t>
            </a:r>
            <a:r>
              <a:rPr lang="ko-KR" altLang="en-US" dirty="0"/>
              <a:t>예매 사이트로의 </a:t>
            </a:r>
            <a:r>
              <a:rPr lang="ko-KR" altLang="en-US" dirty="0" err="1"/>
              <a:t>이동등의</a:t>
            </a:r>
            <a:r>
              <a:rPr lang="ko-KR" altLang="en-US" dirty="0"/>
              <a:t> 기능이 있습니다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EAD039-305A-4B13-984B-8722CFED26A5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0831117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다음으로는 각 분야의 기술 사항입니다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EAD039-305A-4B13-984B-8722CFED26A5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3407173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저희는 로그인을 따로 구현하지 않고</a:t>
            </a:r>
            <a:r>
              <a:rPr lang="en-US" altLang="ko-KR" dirty="0"/>
              <a:t>, </a:t>
            </a:r>
            <a:r>
              <a:rPr lang="ko-KR" altLang="en-US" dirty="0"/>
              <a:t>데이터들을 로컬에 저장하여 왼쪽과 같이 채팅방들을 관리하고 있습니다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EAD039-305A-4B13-984B-8722CFED26A5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74971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각 영화와 공연 모드 마다 기본 질문과 오른쪽 박스오피스 표시 유무가 바뀝니다</a:t>
            </a:r>
            <a:r>
              <a:rPr lang="en-US" altLang="ko-KR" dirty="0"/>
              <a:t>. </a:t>
            </a:r>
            <a:r>
              <a:rPr lang="ko-KR" altLang="en-US" dirty="0"/>
              <a:t>박스오피스에 대한 내용은 추후에 자세히 </a:t>
            </a:r>
            <a:r>
              <a:rPr lang="ko-KR" altLang="en-US" dirty="0" err="1"/>
              <a:t>설명드리겠습니다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EAD039-305A-4B13-984B-8722CFED26A5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0722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아까 박스오피스가 표시되던 오른쪽 사이드 탭에서는 각 질문에 추천 결과들이 정리되어 보여집니다</a:t>
            </a:r>
            <a:r>
              <a:rPr lang="en-US" altLang="ko-KR" dirty="0"/>
              <a:t>. </a:t>
            </a:r>
            <a:r>
              <a:rPr lang="ko-KR" altLang="en-US" dirty="0"/>
              <a:t>탭들을 이동해가며 질문마다의 결과를 개별적으로 확인할 수 있습니다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EAD039-305A-4B13-984B-8722CFED26A5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455016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영화 모드에서 </a:t>
            </a:r>
            <a:r>
              <a:rPr lang="ko-KR" altLang="en-US" dirty="0" err="1"/>
              <a:t>백엔드의</a:t>
            </a:r>
            <a:r>
              <a:rPr lang="ko-KR" altLang="en-US" dirty="0"/>
              <a:t> 흐름은 질문을 받게 되면</a:t>
            </a:r>
            <a:r>
              <a:rPr lang="en-US" altLang="ko-KR" dirty="0"/>
              <a:t>, </a:t>
            </a:r>
            <a:r>
              <a:rPr lang="ko-KR" altLang="en-US" dirty="0"/>
              <a:t>질문을 </a:t>
            </a:r>
            <a:r>
              <a:rPr lang="en-US" altLang="ko-KR" dirty="0"/>
              <a:t>1</a:t>
            </a:r>
            <a:r>
              <a:rPr lang="ko-KR" altLang="en-US" dirty="0"/>
              <a:t>차적으로 의도와 키워드를 분석하게 됩니다</a:t>
            </a:r>
            <a:r>
              <a:rPr lang="en-US" altLang="ko-KR" dirty="0"/>
              <a:t>. </a:t>
            </a:r>
            <a:r>
              <a:rPr lang="ko-KR" altLang="en-US" dirty="0"/>
              <a:t>그 후에 자체 </a:t>
            </a:r>
            <a:r>
              <a:rPr lang="en-US" altLang="ko-KR" dirty="0"/>
              <a:t>DB</a:t>
            </a:r>
            <a:r>
              <a:rPr lang="ko-KR" altLang="en-US" dirty="0"/>
              <a:t>를 활용하여 오타 검증과 같은 </a:t>
            </a:r>
            <a:r>
              <a:rPr lang="en-US" altLang="ko-KR" dirty="0"/>
              <a:t>1</a:t>
            </a:r>
            <a:r>
              <a:rPr lang="ko-KR" altLang="en-US" dirty="0"/>
              <a:t>차 분석을 하게 되고</a:t>
            </a:r>
            <a:r>
              <a:rPr lang="en-US" altLang="ko-KR" dirty="0"/>
              <a:t>, </a:t>
            </a:r>
            <a:r>
              <a:rPr lang="ko-KR" altLang="en-US" dirty="0"/>
              <a:t>이를 바탕으로 </a:t>
            </a:r>
            <a:r>
              <a:rPr lang="en-US" altLang="ko-KR" dirty="0"/>
              <a:t>TMDB</a:t>
            </a:r>
            <a:r>
              <a:rPr lang="ko-KR" altLang="en-US" dirty="0"/>
              <a:t>에서 데이터를 받은 후</a:t>
            </a:r>
            <a:r>
              <a:rPr lang="en-US" altLang="ko-KR" dirty="0"/>
              <a:t>, </a:t>
            </a:r>
            <a:r>
              <a:rPr lang="ko-KR" altLang="en-US" dirty="0"/>
              <a:t>이를 가공하여 유저에게 반환됩니다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EAD039-305A-4B13-984B-8722CFED26A5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7518797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공연의 경우에는 </a:t>
            </a:r>
            <a:r>
              <a:rPr lang="en-US" altLang="ko-KR" dirty="0"/>
              <a:t>1</a:t>
            </a:r>
            <a:r>
              <a:rPr lang="ko-KR" altLang="en-US" dirty="0"/>
              <a:t>차적인 의도</a:t>
            </a:r>
            <a:r>
              <a:rPr lang="en-US" altLang="ko-KR" dirty="0"/>
              <a:t>, </a:t>
            </a:r>
            <a:r>
              <a:rPr lang="ko-KR" altLang="en-US" dirty="0"/>
              <a:t>키워드 분석까진 동일하나</a:t>
            </a:r>
            <a:r>
              <a:rPr lang="en-US" altLang="ko-KR" dirty="0"/>
              <a:t>, </a:t>
            </a:r>
            <a:r>
              <a:rPr lang="ko-KR" altLang="en-US" dirty="0"/>
              <a:t>자체적으로 가지고 있는 데이터를 기반으로 검색과 추천이 진행됩니다</a:t>
            </a:r>
            <a:r>
              <a:rPr lang="en-US" altLang="ko-KR" dirty="0"/>
              <a:t>. </a:t>
            </a:r>
            <a:r>
              <a:rPr lang="ko-KR" altLang="en-US" dirty="0"/>
              <a:t>이 결과를 가공하여 유저에게 제공됩니다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EAD039-305A-4B13-984B-8722CFED26A5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990898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영화의 데이터는 </a:t>
            </a:r>
            <a:r>
              <a:rPr lang="en-US" altLang="ko-KR" dirty="0"/>
              <a:t>TMDB</a:t>
            </a:r>
            <a:r>
              <a:rPr lang="ko-KR" altLang="en-US" dirty="0"/>
              <a:t>의 데이터를 참고하였습니다</a:t>
            </a:r>
            <a:r>
              <a:rPr lang="en-US" altLang="ko-KR" dirty="0"/>
              <a:t>. 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EAD039-305A-4B13-984B-8722CFED26A5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84113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공연의 경우에는 문체부에서 제공하는 문화공공데이터광장에서 제공하는 문화예술 </a:t>
            </a:r>
            <a:r>
              <a:rPr lang="en-US" altLang="ko-KR" dirty="0"/>
              <a:t>API</a:t>
            </a:r>
            <a:r>
              <a:rPr lang="ko-KR" altLang="en-US" dirty="0"/>
              <a:t>를</a:t>
            </a:r>
            <a:r>
              <a:rPr lang="en-US" altLang="ko-KR" dirty="0"/>
              <a:t> </a:t>
            </a:r>
            <a:r>
              <a:rPr lang="ko-KR" altLang="en-US" dirty="0"/>
              <a:t>사용하지만</a:t>
            </a:r>
            <a:r>
              <a:rPr lang="en-US" altLang="ko-KR" dirty="0"/>
              <a:t>, </a:t>
            </a:r>
            <a:r>
              <a:rPr lang="ko-KR" altLang="en-US" dirty="0"/>
              <a:t>출력 값에 지역명이 따로 존재하지 않습니다</a:t>
            </a:r>
            <a:r>
              <a:rPr lang="en-US" altLang="ko-KR" dirty="0"/>
              <a:t>. </a:t>
            </a:r>
            <a:r>
              <a:rPr lang="ko-KR" altLang="en-US" dirty="0"/>
              <a:t>그래서 제목과 장소 데이터를 활용하여 새로운 </a:t>
            </a:r>
            <a:r>
              <a:rPr lang="ko-KR" altLang="en-US" dirty="0" err="1"/>
              <a:t>지역명</a:t>
            </a:r>
            <a:r>
              <a:rPr lang="ko-KR" altLang="en-US" dirty="0"/>
              <a:t> 필드를 만들어 사용합니다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EAD039-305A-4B13-984B-8722CFED26A5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203835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실행되는 예시를 보여드리겠습니다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EAD039-305A-4B13-984B-8722CFED26A5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364289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아까 언급했듯 영화와 공연은 기본 질문과 우측 </a:t>
            </a:r>
            <a:r>
              <a:rPr lang="ko-KR" altLang="en-US" dirty="0" err="1"/>
              <a:t>사이드탭의</a:t>
            </a:r>
            <a:r>
              <a:rPr lang="ko-KR" altLang="en-US" dirty="0"/>
              <a:t> 내용이 달라지게 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EAD039-305A-4B13-984B-8722CFED26A5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0581400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만약 박스오피스 랭킹의 영화가 궁금해 클릭하게 되면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EAD039-305A-4B13-984B-8722CFED26A5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268594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다음과 같이 해당 영화에 대한 내용을 출력합니다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EAD039-305A-4B13-984B-8722CFED26A5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41150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7B2B0D-8E0A-4391-6E61-56B5F3F283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A16A925-2F97-1EFC-75E2-750E2F8C99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B7F4F17-E941-9B14-EF46-81FA6394D3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놀란 감독의 영화를 추천해달라고 해봤는데요</a:t>
            </a:r>
            <a:r>
              <a:rPr lang="en-US" altLang="ko-KR" dirty="0"/>
              <a:t>, </a:t>
            </a:r>
            <a:r>
              <a:rPr lang="ko-KR" altLang="en-US" dirty="0"/>
              <a:t>각 결과가 아래 내용과 오른쪽 </a:t>
            </a:r>
            <a:r>
              <a:rPr lang="ko-KR" altLang="en-US" dirty="0" err="1"/>
              <a:t>사이드탭에</a:t>
            </a:r>
            <a:r>
              <a:rPr lang="ko-KR" altLang="en-US" dirty="0"/>
              <a:t> 반영되는 모습입니다</a:t>
            </a:r>
            <a:r>
              <a:rPr lang="en-US" altLang="ko-KR" dirty="0"/>
              <a:t>. </a:t>
            </a:r>
            <a:r>
              <a:rPr lang="ko-KR" altLang="en-US" dirty="0"/>
              <a:t>추가적으로 궁금한 </a:t>
            </a:r>
            <a:r>
              <a:rPr lang="ko-KR" altLang="en-US" dirty="0" err="1"/>
              <a:t>인터스텔라</a:t>
            </a:r>
            <a:r>
              <a:rPr lang="ko-KR" altLang="en-US" dirty="0"/>
              <a:t> 카드 둘 중에 하나를 클릭하게 된다면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C8D046B-2563-B8B0-E588-9AFE39B1AB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EAD039-305A-4B13-984B-8722CFED26A5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3721750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놀란 감독의 영화를 추천해달라고 해봤는데요</a:t>
            </a:r>
            <a:r>
              <a:rPr lang="en-US" altLang="ko-KR" dirty="0"/>
              <a:t>, </a:t>
            </a:r>
            <a:r>
              <a:rPr lang="ko-KR" altLang="en-US" dirty="0"/>
              <a:t>각 결과가 아래 내용과 오른쪽 </a:t>
            </a:r>
            <a:r>
              <a:rPr lang="ko-KR" altLang="en-US" dirty="0" err="1"/>
              <a:t>사이드탭에</a:t>
            </a:r>
            <a:r>
              <a:rPr lang="ko-KR" altLang="en-US" dirty="0"/>
              <a:t> 반영되는 모습입니다</a:t>
            </a:r>
            <a:r>
              <a:rPr lang="en-US" altLang="ko-KR" dirty="0"/>
              <a:t>. </a:t>
            </a:r>
            <a:r>
              <a:rPr lang="ko-KR" altLang="en-US" dirty="0"/>
              <a:t>추가적으로 궁금한 </a:t>
            </a:r>
            <a:r>
              <a:rPr lang="ko-KR" altLang="en-US" dirty="0" err="1"/>
              <a:t>인터스텔라</a:t>
            </a:r>
            <a:r>
              <a:rPr lang="ko-KR" altLang="en-US" dirty="0"/>
              <a:t> 카드 둘 중에 하나를 클릭하게 된다면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EAD039-305A-4B13-984B-8722CFED26A5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057852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/>
              <a:t>보시는것처럼</a:t>
            </a:r>
            <a:r>
              <a:rPr lang="ko-KR" altLang="en-US" dirty="0"/>
              <a:t> 네이버 검색을 통해 더 자세한 정보를 찾을 수 있습니다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EAD039-305A-4B13-984B-8722CFED26A5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740375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DE3FDA-5100-4C56-C5CD-EEC0221428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3D51AE0-02AC-6775-2752-65A54A08C7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4D5D225-F505-A5CF-D128-66B894AE2D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아까 보셨던 것처럼 박스오피스 순위에 있는 영화를 검색하게 되면 보이시는 것처럼 실제 예매로도 이어질 수 있습니다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3D2B175-2B4C-A456-5677-AC9EE3CBE1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EAD039-305A-4B13-984B-8722CFED26A5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4576833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만약 키워드 중에서 오타가 발생하게 된다면 자체 </a:t>
            </a:r>
            <a:r>
              <a:rPr lang="en-US" altLang="ko-KR" dirty="0"/>
              <a:t>DB</a:t>
            </a:r>
            <a:r>
              <a:rPr lang="ko-KR" altLang="en-US" dirty="0"/>
              <a:t>를 통해 오타를 확인하고</a:t>
            </a:r>
            <a:r>
              <a:rPr lang="en-US" altLang="ko-KR" dirty="0"/>
              <a:t>, </a:t>
            </a:r>
            <a:r>
              <a:rPr lang="ko-KR" altLang="en-US" dirty="0"/>
              <a:t>올바른 정보를 출력하게 됩니다</a:t>
            </a:r>
            <a:r>
              <a:rPr lang="en-US" altLang="ko-KR" dirty="0"/>
              <a:t>. </a:t>
            </a:r>
            <a:r>
              <a:rPr lang="ko-KR" altLang="en-US" dirty="0"/>
              <a:t>보이시는 것처럼 </a:t>
            </a:r>
            <a:r>
              <a:rPr lang="ko-KR" altLang="en-US" dirty="0" err="1"/>
              <a:t>마동식</a:t>
            </a:r>
            <a:r>
              <a:rPr lang="ko-KR" altLang="en-US" dirty="0"/>
              <a:t> 이라는 잘못된 인물을 검색해도 가장 유사한 마동석이라는 키워드로 변경하여 답변을 하게 됩니다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EAD039-305A-4B13-984B-8722CFED26A5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9816281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공연의 경우에는 출력방법이 조금 다릅니다</a:t>
            </a:r>
            <a:r>
              <a:rPr lang="en-US" altLang="ko-KR" dirty="0"/>
              <a:t>. </a:t>
            </a:r>
            <a:r>
              <a:rPr lang="ko-KR" altLang="en-US" dirty="0"/>
              <a:t>공연에 대한 포스터</a:t>
            </a:r>
            <a:r>
              <a:rPr lang="en-US" altLang="ko-KR" dirty="0"/>
              <a:t>, </a:t>
            </a:r>
            <a:r>
              <a:rPr lang="ko-KR" altLang="en-US" dirty="0"/>
              <a:t>제목</a:t>
            </a:r>
            <a:r>
              <a:rPr lang="en-US" altLang="ko-KR" dirty="0"/>
              <a:t>, </a:t>
            </a:r>
            <a:r>
              <a:rPr lang="ko-KR" altLang="en-US" dirty="0"/>
              <a:t>그리고 공연장이 나오게 </a:t>
            </a:r>
            <a:r>
              <a:rPr lang="ko-KR" altLang="en-US" dirty="0" err="1"/>
              <a:t>되구요</a:t>
            </a:r>
            <a:r>
              <a:rPr lang="ko-KR" altLang="en-US" dirty="0"/>
              <a:t> 공연하는 </a:t>
            </a:r>
            <a:r>
              <a:rPr lang="ko-KR" altLang="en-US" dirty="0" err="1"/>
              <a:t>기간또한</a:t>
            </a:r>
            <a:r>
              <a:rPr lang="ko-KR" altLang="en-US" dirty="0"/>
              <a:t> 같이 나오게 됩니다</a:t>
            </a:r>
            <a:r>
              <a:rPr lang="en-US" altLang="ko-KR" dirty="0"/>
              <a:t>. </a:t>
            </a:r>
            <a:r>
              <a:rPr lang="ko-KR" altLang="en-US" dirty="0"/>
              <a:t>제가 표시해둔 상세정보 혹은 오른쪽 </a:t>
            </a:r>
            <a:r>
              <a:rPr lang="ko-KR" altLang="en-US" dirty="0" err="1"/>
              <a:t>사이드탭에</a:t>
            </a:r>
            <a:r>
              <a:rPr lang="ko-KR" altLang="en-US" dirty="0"/>
              <a:t> 카드를 클릭하게 되면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EAD039-305A-4B13-984B-8722CFED26A5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624498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/>
              <a:t>문체부</a:t>
            </a:r>
            <a:r>
              <a:rPr lang="ko-KR" altLang="en-US" dirty="0"/>
              <a:t> </a:t>
            </a:r>
            <a:r>
              <a:rPr lang="en-US" altLang="ko-KR" dirty="0"/>
              <a:t>URL</a:t>
            </a:r>
            <a:r>
              <a:rPr lang="ko-KR" altLang="en-US" dirty="0"/>
              <a:t>로 이동하여 다른 정보와 관련 누리집으로 이동할 수 있습니다</a:t>
            </a:r>
            <a:r>
              <a:rPr lang="en-US" altLang="ko-KR" dirty="0"/>
              <a:t>. </a:t>
            </a:r>
            <a:r>
              <a:rPr lang="ko-KR" altLang="en-US" dirty="0"/>
              <a:t>이 부분을 누르면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EAD039-305A-4B13-984B-8722CFED26A5}" type="slidenum">
              <a:rPr lang="ko-KR" altLang="en-US" smtClean="0"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6698722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이렇게 공연</a:t>
            </a:r>
            <a:r>
              <a:rPr lang="en-US" altLang="ko-KR" dirty="0"/>
              <a:t>/</a:t>
            </a:r>
            <a:r>
              <a:rPr lang="ko-KR" altLang="en-US" dirty="0"/>
              <a:t>전시에 대한 사이트로 이동하거나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EAD039-305A-4B13-984B-8722CFED26A5}" type="slidenum">
              <a:rPr lang="ko-KR" altLang="en-US" smtClean="0"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329528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예매가 필요한 공연과 같은 경우에는 보이시는 것처럼 예매 사이트로도 이동이 가능합니다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저희는 </a:t>
            </a:r>
            <a:r>
              <a:rPr lang="en-US" altLang="ko-KR" dirty="0"/>
              <a:t>LLM</a:t>
            </a:r>
            <a:r>
              <a:rPr lang="ko-KR" altLang="en-US" dirty="0"/>
              <a:t>을 활용하여 영화나 공연에 대한 접근성을 높이고</a:t>
            </a:r>
            <a:r>
              <a:rPr lang="en-US" altLang="ko-KR" dirty="0"/>
              <a:t>, </a:t>
            </a:r>
            <a:r>
              <a:rPr lang="ko-KR" altLang="en-US" dirty="0"/>
              <a:t>이를 바탕으로 실제적인 사용으로 이어질 수 있는 </a:t>
            </a:r>
            <a:r>
              <a:rPr lang="en-US" altLang="ko-KR" dirty="0"/>
              <a:t>LLMUSE</a:t>
            </a:r>
            <a:r>
              <a:rPr lang="ko-KR" altLang="en-US" dirty="0"/>
              <a:t>를 개발해 보았습니다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EAD039-305A-4B13-984B-8722CFED26A5}" type="slidenum">
              <a:rPr lang="ko-KR" altLang="en-US" smtClean="0"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775231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이상으로 발표를 마치겠습니다</a:t>
            </a:r>
            <a:r>
              <a:rPr lang="en-US" altLang="ko-KR" dirty="0"/>
              <a:t>. </a:t>
            </a:r>
            <a:r>
              <a:rPr lang="ko-KR" altLang="en-US" dirty="0"/>
              <a:t>감사합니다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EAD039-305A-4B13-984B-8722CFED26A5}" type="slidenum">
              <a:rPr lang="ko-KR" altLang="en-US" smtClean="0"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447478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12/12/25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12/12/25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12/12/25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jpe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90868" y="10008764"/>
            <a:ext cx="18869735" cy="120011"/>
            <a:chOff x="0" y="0"/>
            <a:chExt cx="4969807" cy="3160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969807" cy="31608"/>
            </a:xfrm>
            <a:custGeom>
              <a:avLst/>
              <a:gdLst/>
              <a:ahLst/>
              <a:cxnLst/>
              <a:rect l="l" t="t" r="r" b="b"/>
              <a:pathLst>
                <a:path w="4969807" h="31608">
                  <a:moveTo>
                    <a:pt x="0" y="0"/>
                  </a:moveTo>
                  <a:lnTo>
                    <a:pt x="4969807" y="0"/>
                  </a:lnTo>
                  <a:lnTo>
                    <a:pt x="4969807" y="31608"/>
                  </a:lnTo>
                  <a:lnTo>
                    <a:pt x="0" y="31608"/>
                  </a:lnTo>
                  <a:close/>
                </a:path>
              </a:pathLst>
            </a:custGeom>
            <a:solidFill>
              <a:srgbClr val="191919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969807" cy="792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2019299" y="3448812"/>
            <a:ext cx="14249400" cy="29204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1923"/>
              </a:lnSpc>
            </a:pPr>
            <a:r>
              <a:rPr lang="en-US" sz="9500" spc="-103" dirty="0">
                <a:solidFill>
                  <a:srgbClr val="191919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  <a:sym typeface="Glacial Indifference"/>
              </a:rPr>
              <a:t>LLMUSE</a:t>
            </a:r>
          </a:p>
          <a:p>
            <a:pPr algn="ctr">
              <a:lnSpc>
                <a:spcPts val="11923"/>
              </a:lnSpc>
            </a:pPr>
            <a:r>
              <a:rPr lang="en-US" altLang="ko-KR" sz="6500" spc="-103" dirty="0">
                <a:solidFill>
                  <a:srgbClr val="19191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Glacial Indifference"/>
              </a:rPr>
              <a:t>LLM</a:t>
            </a:r>
            <a:r>
              <a:rPr lang="ko-KR" altLang="en-US" sz="6500" spc="-103" dirty="0">
                <a:solidFill>
                  <a:srgbClr val="19191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Glacial Indifference"/>
              </a:rPr>
              <a:t>기반 공연 영화 추천 플랫폼</a:t>
            </a:r>
            <a:endParaRPr lang="en-US" altLang="ko-KR" sz="6500" spc="-103" dirty="0">
              <a:solidFill>
                <a:srgbClr val="191919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  <a:sym typeface="Glacial Indifference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028700" y="8720382"/>
            <a:ext cx="2975952" cy="4271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639"/>
              </a:lnSpc>
              <a:spcBef>
                <a:spcPct val="0"/>
              </a:spcBef>
            </a:pPr>
            <a:r>
              <a:rPr lang="en-US" sz="2500" u="none" strike="noStrike" dirty="0">
                <a:solidFill>
                  <a:srgbClr val="19191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Garet Light"/>
              </a:rPr>
              <a:t>2025.12.12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439400" y="8720382"/>
            <a:ext cx="6819900" cy="11062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r">
              <a:lnSpc>
                <a:spcPts val="4475"/>
              </a:lnSpc>
              <a:spcBef>
                <a:spcPct val="0"/>
              </a:spcBef>
            </a:pPr>
            <a:r>
              <a:rPr lang="ko-KR" altLang="en-US" sz="2500" u="none" strike="noStrike" dirty="0">
                <a:solidFill>
                  <a:srgbClr val="19191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윤고딕"/>
              </a:rPr>
              <a:t>소프트웨어공학개론 </a:t>
            </a:r>
            <a:r>
              <a:rPr lang="en-US" altLang="ko-KR" sz="2500" dirty="0">
                <a:solidFill>
                  <a:srgbClr val="19191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윤고딕"/>
              </a:rPr>
              <a:t>4</a:t>
            </a:r>
            <a:r>
              <a:rPr lang="ko-KR" altLang="en-US" sz="2500" dirty="0">
                <a:solidFill>
                  <a:srgbClr val="19191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윤고딕"/>
              </a:rPr>
              <a:t>조</a:t>
            </a:r>
            <a:endParaRPr lang="en-US" altLang="ko-KR" sz="2500" dirty="0">
              <a:solidFill>
                <a:srgbClr val="191919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  <a:sym typeface="윤고딕"/>
            </a:endParaRPr>
          </a:p>
          <a:p>
            <a:pPr marL="0" lvl="0" indent="0" algn="r">
              <a:lnSpc>
                <a:spcPts val="4475"/>
              </a:lnSpc>
              <a:spcBef>
                <a:spcPct val="0"/>
              </a:spcBef>
            </a:pPr>
            <a:r>
              <a:rPr lang="ko-KR" altLang="en-US" sz="2500" u="none" strike="noStrike" dirty="0">
                <a:solidFill>
                  <a:srgbClr val="19191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윤고딕"/>
              </a:rPr>
              <a:t>박진석 강성민 김군도 박윤지 박지호</a:t>
            </a:r>
            <a:endParaRPr lang="en-US" sz="2500" u="none" strike="noStrike" dirty="0">
              <a:solidFill>
                <a:srgbClr val="191919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  <a:sym typeface="윤고딕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90868" y="10008764"/>
            <a:ext cx="18869735" cy="120011"/>
            <a:chOff x="0" y="0"/>
            <a:chExt cx="4969807" cy="3160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969807" cy="31608"/>
            </a:xfrm>
            <a:custGeom>
              <a:avLst/>
              <a:gdLst/>
              <a:ahLst/>
              <a:cxnLst/>
              <a:rect l="l" t="t" r="r" b="b"/>
              <a:pathLst>
                <a:path w="4969807" h="31608">
                  <a:moveTo>
                    <a:pt x="0" y="0"/>
                  </a:moveTo>
                  <a:lnTo>
                    <a:pt x="4969807" y="0"/>
                  </a:lnTo>
                  <a:lnTo>
                    <a:pt x="4969807" y="31608"/>
                  </a:lnTo>
                  <a:lnTo>
                    <a:pt x="0" y="31608"/>
                  </a:lnTo>
                  <a:close/>
                </a:path>
              </a:pathLst>
            </a:custGeom>
            <a:solidFill>
              <a:srgbClr val="191919"/>
            </a:solidFill>
            <a:ln w="19050" cap="sq">
              <a:solidFill>
                <a:srgbClr val="191919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969807" cy="792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7205225" y="1804670"/>
            <a:ext cx="3052600" cy="677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56"/>
              </a:lnSpc>
              <a:spcBef>
                <a:spcPct val="0"/>
              </a:spcBef>
            </a:pPr>
            <a:r>
              <a:rPr lang="en-US" sz="3968" spc="-182" dirty="0" err="1">
                <a:solidFill>
                  <a:srgbClr val="191919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  <a:sym typeface="윤고딕"/>
              </a:rPr>
              <a:t>프로젝트</a:t>
            </a:r>
            <a:r>
              <a:rPr lang="en-US" sz="3968" spc="-182" dirty="0">
                <a:solidFill>
                  <a:srgbClr val="191919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  <a:sym typeface="윤고딕"/>
              </a:rPr>
              <a:t> </a:t>
            </a:r>
            <a:r>
              <a:rPr lang="ko-KR" altLang="en-US" sz="3968" spc="-182" dirty="0">
                <a:solidFill>
                  <a:srgbClr val="191919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  <a:sym typeface="윤고딕"/>
              </a:rPr>
              <a:t>개요</a:t>
            </a:r>
            <a:endParaRPr lang="en-US" sz="3968" spc="-182" dirty="0">
              <a:solidFill>
                <a:srgbClr val="191919"/>
              </a:solidFill>
              <a:latin typeface="Pretendard Medium" panose="02000503000000020004" pitchFamily="2" charset="-127"/>
              <a:ea typeface="Pretendard Medium" panose="02000503000000020004" pitchFamily="2" charset="-127"/>
              <a:cs typeface="Pretendard Medium" panose="02000503000000020004" pitchFamily="2" charset="-127"/>
              <a:sym typeface="윤고딕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7205225" y="2841467"/>
            <a:ext cx="2416440" cy="19044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40"/>
              </a:lnSpc>
            </a:pPr>
            <a:r>
              <a:rPr lang="ko-KR" altLang="en-US" sz="3023" spc="-139" dirty="0">
                <a:solidFill>
                  <a:srgbClr val="19191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윤고딕"/>
              </a:rPr>
              <a:t>프로젝트 개요</a:t>
            </a:r>
            <a:endParaRPr lang="en-US" sz="3023" spc="-139" dirty="0">
              <a:solidFill>
                <a:srgbClr val="191919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  <a:sym typeface="윤고딕"/>
            </a:endParaRPr>
          </a:p>
          <a:p>
            <a:pPr algn="l">
              <a:lnSpc>
                <a:spcPts val="5140"/>
              </a:lnSpc>
            </a:pPr>
            <a:endParaRPr lang="en-US" sz="3023" spc="-139" dirty="0">
              <a:solidFill>
                <a:srgbClr val="191919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  <a:sym typeface="윤고딕"/>
            </a:endParaRPr>
          </a:p>
          <a:p>
            <a:pPr algn="l">
              <a:lnSpc>
                <a:spcPts val="5140"/>
              </a:lnSpc>
            </a:pPr>
            <a:endParaRPr lang="en-US" sz="3023" spc="-139" dirty="0">
              <a:solidFill>
                <a:srgbClr val="191919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  <a:sym typeface="윤고딕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3564408" y="2841467"/>
            <a:ext cx="2416440" cy="1889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40"/>
              </a:lnSpc>
            </a:pPr>
            <a:r>
              <a:rPr lang="ko-KR" altLang="en-US" sz="3023" spc="-139" dirty="0" err="1">
                <a:solidFill>
                  <a:srgbClr val="19191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윤고딕"/>
              </a:rPr>
              <a:t>프론트엔드</a:t>
            </a:r>
            <a:endParaRPr lang="en-US" sz="3023" spc="-139" dirty="0">
              <a:solidFill>
                <a:srgbClr val="191919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  <a:sym typeface="윤고딕"/>
            </a:endParaRPr>
          </a:p>
          <a:p>
            <a:pPr algn="l">
              <a:lnSpc>
                <a:spcPts val="5140"/>
              </a:lnSpc>
            </a:pPr>
            <a:r>
              <a:rPr lang="ko-KR" altLang="en-US" sz="3023" spc="-139" dirty="0" err="1">
                <a:solidFill>
                  <a:srgbClr val="19191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윤고딕"/>
              </a:rPr>
              <a:t>백엔드</a:t>
            </a:r>
            <a:endParaRPr lang="en-US" altLang="ko-KR" sz="3023" spc="-139" dirty="0">
              <a:solidFill>
                <a:srgbClr val="191919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  <a:sym typeface="윤고딕"/>
            </a:endParaRPr>
          </a:p>
          <a:p>
            <a:pPr algn="l">
              <a:lnSpc>
                <a:spcPts val="5140"/>
              </a:lnSpc>
            </a:pPr>
            <a:r>
              <a:rPr lang="ko-KR" altLang="en-US" sz="3023" spc="-139" dirty="0">
                <a:solidFill>
                  <a:srgbClr val="19191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윤고딕"/>
              </a:rPr>
              <a:t>데이터베이스</a:t>
            </a:r>
            <a:endParaRPr lang="en-US" sz="3023" spc="-139" dirty="0">
              <a:solidFill>
                <a:srgbClr val="191919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  <a:sym typeface="윤고딕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3564408" y="6392497"/>
            <a:ext cx="2416440" cy="12355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40"/>
              </a:lnSpc>
            </a:pPr>
            <a:r>
              <a:rPr lang="ko-KR" altLang="en-US" sz="3023" spc="-139" dirty="0">
                <a:solidFill>
                  <a:srgbClr val="19191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윤고딕"/>
              </a:rPr>
              <a:t>영화</a:t>
            </a:r>
            <a:endParaRPr lang="en-US" altLang="ko-KR" sz="3023" spc="-139" dirty="0">
              <a:solidFill>
                <a:srgbClr val="191919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  <a:sym typeface="윤고딕"/>
            </a:endParaRPr>
          </a:p>
          <a:p>
            <a:pPr algn="l">
              <a:lnSpc>
                <a:spcPts val="5140"/>
              </a:lnSpc>
            </a:pPr>
            <a:r>
              <a:rPr lang="ko-KR" altLang="en-US" sz="3023" spc="-139" dirty="0">
                <a:solidFill>
                  <a:srgbClr val="19191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윤고딕"/>
              </a:rPr>
              <a:t>공연</a:t>
            </a:r>
            <a:endParaRPr lang="en-US" sz="3023" spc="-139" dirty="0">
              <a:solidFill>
                <a:srgbClr val="191919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  <a:sym typeface="윤고딕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7205225" y="6392497"/>
            <a:ext cx="2416440" cy="12355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40"/>
              </a:lnSpc>
            </a:pPr>
            <a:r>
              <a:rPr lang="ko-KR" altLang="en-US" sz="3023" spc="-139" dirty="0">
                <a:solidFill>
                  <a:srgbClr val="19191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윤고딕"/>
              </a:rPr>
              <a:t>영화</a:t>
            </a:r>
            <a:endParaRPr lang="en-US" altLang="ko-KR" sz="3023" spc="-139" dirty="0">
              <a:solidFill>
                <a:srgbClr val="191919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  <a:sym typeface="윤고딕"/>
            </a:endParaRPr>
          </a:p>
          <a:p>
            <a:pPr algn="l">
              <a:lnSpc>
                <a:spcPts val="5140"/>
              </a:lnSpc>
            </a:pPr>
            <a:r>
              <a:rPr lang="ko-KR" altLang="en-US" sz="3023" spc="-139" dirty="0">
                <a:solidFill>
                  <a:srgbClr val="19191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윤고딕"/>
              </a:rPr>
              <a:t>공연</a:t>
            </a:r>
            <a:endParaRPr lang="en-US" sz="3023" spc="-139" dirty="0">
              <a:solidFill>
                <a:srgbClr val="191919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  <a:sym typeface="윤고딕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7205225" y="5354460"/>
            <a:ext cx="3052600" cy="677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56"/>
              </a:lnSpc>
              <a:spcBef>
                <a:spcPct val="0"/>
              </a:spcBef>
            </a:pPr>
            <a:r>
              <a:rPr lang="ko-KR" altLang="en-US" sz="3968" spc="-182" dirty="0">
                <a:solidFill>
                  <a:srgbClr val="191919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  <a:sym typeface="윤고딕"/>
              </a:rPr>
              <a:t>주요 기능</a:t>
            </a:r>
            <a:endParaRPr lang="en-US" sz="3968" spc="-182" dirty="0">
              <a:solidFill>
                <a:srgbClr val="191919"/>
              </a:solidFill>
              <a:latin typeface="Pretendard Medium" panose="02000503000000020004" pitchFamily="2" charset="-127"/>
              <a:ea typeface="Pretendard Medium" panose="02000503000000020004" pitchFamily="2" charset="-127"/>
              <a:cs typeface="Pretendard Medium" panose="02000503000000020004" pitchFamily="2" charset="-127"/>
              <a:sym typeface="윤고딕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3528407" y="1804670"/>
            <a:ext cx="3052600" cy="677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56"/>
              </a:lnSpc>
              <a:spcBef>
                <a:spcPct val="0"/>
              </a:spcBef>
            </a:pPr>
            <a:r>
              <a:rPr lang="en-US" sz="3968" spc="-182" dirty="0" err="1">
                <a:solidFill>
                  <a:srgbClr val="191919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  <a:sym typeface="윤고딕"/>
              </a:rPr>
              <a:t>기술</a:t>
            </a:r>
            <a:r>
              <a:rPr lang="en-US" sz="3968" spc="-182" dirty="0">
                <a:solidFill>
                  <a:srgbClr val="191919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  <a:sym typeface="윤고딕"/>
              </a:rPr>
              <a:t> </a:t>
            </a:r>
            <a:r>
              <a:rPr lang="en-US" sz="3968" spc="-182" dirty="0" err="1">
                <a:solidFill>
                  <a:srgbClr val="191919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  <a:sym typeface="윤고딕"/>
              </a:rPr>
              <a:t>사항</a:t>
            </a:r>
            <a:endParaRPr lang="en-US" sz="3968" spc="-182" dirty="0">
              <a:solidFill>
                <a:srgbClr val="191919"/>
              </a:solidFill>
              <a:latin typeface="Pretendard Medium" panose="02000503000000020004" pitchFamily="2" charset="-127"/>
              <a:ea typeface="Pretendard Medium" panose="02000503000000020004" pitchFamily="2" charset="-127"/>
              <a:cs typeface="Pretendard Medium" panose="02000503000000020004" pitchFamily="2" charset="-127"/>
              <a:sym typeface="윤고딕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3528407" y="5354459"/>
            <a:ext cx="3052600" cy="677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56"/>
              </a:lnSpc>
              <a:spcBef>
                <a:spcPct val="0"/>
              </a:spcBef>
            </a:pPr>
            <a:r>
              <a:rPr lang="ko-KR" altLang="en-US" sz="3968" spc="-182" dirty="0">
                <a:solidFill>
                  <a:srgbClr val="191919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  <a:sym typeface="윤고딕"/>
              </a:rPr>
              <a:t>실행 예시</a:t>
            </a:r>
            <a:endParaRPr lang="en-US" sz="3968" spc="-182" dirty="0">
              <a:solidFill>
                <a:srgbClr val="191919"/>
              </a:solidFill>
              <a:latin typeface="Pretendard Medium" panose="02000503000000020004" pitchFamily="2" charset="-127"/>
              <a:ea typeface="Pretendard Medium" panose="02000503000000020004" pitchFamily="2" charset="-127"/>
              <a:cs typeface="Pretendard Medium" panose="02000503000000020004" pitchFamily="2" charset="-127"/>
              <a:sym typeface="윤고딕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6477050" y="1193911"/>
            <a:ext cx="886159" cy="16436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3481"/>
              </a:lnSpc>
              <a:spcBef>
                <a:spcPct val="0"/>
              </a:spcBef>
            </a:pPr>
            <a:r>
              <a:rPr lang="en-US" sz="9629" u="none" strike="noStrike" dirty="0">
                <a:solidFill>
                  <a:srgbClr val="191919"/>
                </a:solidFill>
                <a:latin typeface="Beautifully Delicious Script"/>
                <a:ea typeface="Beautifully Delicious Script"/>
                <a:cs typeface="Beautifully Delicious Script"/>
                <a:sym typeface="Beautifully Delicious Script"/>
              </a:rPr>
              <a:t>1.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477050" y="4733269"/>
            <a:ext cx="886159" cy="16436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3481"/>
              </a:lnSpc>
              <a:spcBef>
                <a:spcPct val="0"/>
              </a:spcBef>
            </a:pPr>
            <a:r>
              <a:rPr lang="en-US" sz="9629">
                <a:solidFill>
                  <a:srgbClr val="191919"/>
                </a:solidFill>
                <a:latin typeface="Beautifully Delicious Script"/>
                <a:ea typeface="Beautifully Delicious Script"/>
                <a:cs typeface="Beautifully Delicious Script"/>
                <a:sym typeface="Beautifully Delicious Script"/>
              </a:rPr>
              <a:t>2</a:t>
            </a:r>
            <a:r>
              <a:rPr lang="en-US" sz="9629" u="none" strike="noStrike">
                <a:solidFill>
                  <a:srgbClr val="191919"/>
                </a:solidFill>
                <a:latin typeface="Beautifully Delicious Script"/>
                <a:ea typeface="Beautifully Delicious Script"/>
                <a:cs typeface="Beautifully Delicious Script"/>
                <a:sym typeface="Beautifully Delicious Script"/>
              </a:rPr>
              <a:t>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2852443" y="1193911"/>
            <a:ext cx="886159" cy="16436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3481"/>
              </a:lnSpc>
              <a:spcBef>
                <a:spcPct val="0"/>
              </a:spcBef>
            </a:pPr>
            <a:r>
              <a:rPr lang="en-US" sz="9629">
                <a:solidFill>
                  <a:srgbClr val="191919"/>
                </a:solidFill>
                <a:latin typeface="Beautifully Delicious Script"/>
                <a:ea typeface="Beautifully Delicious Script"/>
                <a:cs typeface="Beautifully Delicious Script"/>
                <a:sym typeface="Beautifully Delicious Script"/>
              </a:rPr>
              <a:t>3</a:t>
            </a:r>
            <a:r>
              <a:rPr lang="en-US" sz="9629" u="none" strike="noStrike">
                <a:solidFill>
                  <a:srgbClr val="191919"/>
                </a:solidFill>
                <a:latin typeface="Beautifully Delicious Script"/>
                <a:ea typeface="Beautifully Delicious Script"/>
                <a:cs typeface="Beautifully Delicious Script"/>
                <a:sym typeface="Beautifully Delicious Script"/>
              </a:rPr>
              <a:t>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2852443" y="4735668"/>
            <a:ext cx="886159" cy="16436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3481"/>
              </a:lnSpc>
              <a:spcBef>
                <a:spcPct val="0"/>
              </a:spcBef>
            </a:pPr>
            <a:r>
              <a:rPr lang="en-US" sz="9629">
                <a:solidFill>
                  <a:srgbClr val="191919"/>
                </a:solidFill>
                <a:latin typeface="Beautifully Delicious Script"/>
                <a:ea typeface="Beautifully Delicious Script"/>
                <a:cs typeface="Beautifully Delicious Script"/>
                <a:sym typeface="Beautifully Delicious Script"/>
              </a:rPr>
              <a:t>4</a:t>
            </a:r>
            <a:r>
              <a:rPr lang="en-US" sz="9629" u="none" strike="noStrike">
                <a:solidFill>
                  <a:srgbClr val="191919"/>
                </a:solidFill>
                <a:latin typeface="Beautifully Delicious Script"/>
                <a:ea typeface="Beautifully Delicious Script"/>
                <a:cs typeface="Beautifully Delicious Script"/>
                <a:sym typeface="Beautifully Delicious Script"/>
              </a:rPr>
              <a:t>.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123950" y="944123"/>
            <a:ext cx="2186274" cy="794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6589"/>
              </a:lnSpc>
              <a:spcBef>
                <a:spcPct val="0"/>
              </a:spcBef>
            </a:pPr>
            <a:r>
              <a:rPr lang="en-US" sz="4706" spc="-65" dirty="0" err="1">
                <a:solidFill>
                  <a:srgbClr val="191919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  <a:sym typeface="윤고딕"/>
              </a:rPr>
              <a:t>목</a:t>
            </a:r>
            <a:r>
              <a:rPr lang="en-US" sz="4706" spc="-65" dirty="0">
                <a:solidFill>
                  <a:srgbClr val="191919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  <a:sym typeface="윤고딕"/>
              </a:rPr>
              <a:t> </a:t>
            </a:r>
            <a:r>
              <a:rPr lang="en-US" sz="4706" spc="-65" dirty="0" err="1">
                <a:solidFill>
                  <a:srgbClr val="191919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  <a:sym typeface="윤고딕"/>
              </a:rPr>
              <a:t>차</a:t>
            </a:r>
            <a:endParaRPr lang="en-US" sz="4706" spc="-65" dirty="0">
              <a:solidFill>
                <a:srgbClr val="191919"/>
              </a:solidFill>
              <a:latin typeface="Pretendard Medium" panose="02000503000000020004" pitchFamily="2" charset="-127"/>
              <a:ea typeface="Pretendard Medium" panose="02000503000000020004" pitchFamily="2" charset="-127"/>
              <a:cs typeface="Pretendard Medium" panose="02000503000000020004" pitchFamily="2" charset="-127"/>
              <a:sym typeface="윤고딕"/>
            </a:endParaRPr>
          </a:p>
        </p:txBody>
      </p:sp>
      <p:sp>
        <p:nvSpPr>
          <p:cNvPr id="20" name="AutoShape 20"/>
          <p:cNvSpPr/>
          <p:nvPr/>
        </p:nvSpPr>
        <p:spPr>
          <a:xfrm>
            <a:off x="0" y="828675"/>
            <a:ext cx="3276389" cy="0"/>
          </a:xfrm>
          <a:prstGeom prst="line">
            <a:avLst/>
          </a:prstGeom>
          <a:ln w="38100" cap="flat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709183" y="4654503"/>
            <a:ext cx="6869633" cy="9618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492"/>
              </a:lnSpc>
            </a:pPr>
            <a:r>
              <a:rPr lang="en-US" sz="6514" b="1" spc="-214" dirty="0" err="1">
                <a:solidFill>
                  <a:srgbClr val="191919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  <a:sym typeface="윤고딕 Bold"/>
              </a:rPr>
              <a:t>프로젝트</a:t>
            </a:r>
            <a:r>
              <a:rPr lang="en-US" sz="6514" b="1" spc="-214" dirty="0">
                <a:solidFill>
                  <a:srgbClr val="191919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  <a:sym typeface="윤고딕 Bold"/>
              </a:rPr>
              <a:t> </a:t>
            </a:r>
            <a:r>
              <a:rPr lang="en-US" sz="6514" b="1" spc="-214" dirty="0" err="1">
                <a:solidFill>
                  <a:srgbClr val="191919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  <a:sym typeface="윤고딕 Bold"/>
              </a:rPr>
              <a:t>개요</a:t>
            </a:r>
            <a:r>
              <a:rPr lang="en-US" sz="6514" b="1" spc="-214" dirty="0">
                <a:solidFill>
                  <a:srgbClr val="191919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  <a:sym typeface="윤고딕 Bold"/>
              </a:rPr>
              <a:t> 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-290868" y="10008764"/>
            <a:ext cx="18869735" cy="120011"/>
            <a:chOff x="0" y="0"/>
            <a:chExt cx="4969807" cy="3160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969807" cy="31608"/>
            </a:xfrm>
            <a:custGeom>
              <a:avLst/>
              <a:gdLst/>
              <a:ahLst/>
              <a:cxnLst/>
              <a:rect l="l" t="t" r="r" b="b"/>
              <a:pathLst>
                <a:path w="4969807" h="31608">
                  <a:moveTo>
                    <a:pt x="0" y="0"/>
                  </a:moveTo>
                  <a:lnTo>
                    <a:pt x="4969807" y="0"/>
                  </a:lnTo>
                  <a:lnTo>
                    <a:pt x="4969807" y="31608"/>
                  </a:lnTo>
                  <a:lnTo>
                    <a:pt x="0" y="31608"/>
                  </a:lnTo>
                  <a:close/>
                </a:path>
              </a:pathLst>
            </a:custGeom>
            <a:solidFill>
              <a:srgbClr val="191919"/>
            </a:solidFill>
            <a:ln w="19050" cap="sq">
              <a:solidFill>
                <a:srgbClr val="191919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4969807" cy="792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290868" y="9717040"/>
            <a:ext cx="18869735" cy="120011"/>
            <a:chOff x="0" y="0"/>
            <a:chExt cx="4969807" cy="3160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969807" cy="31608"/>
            </a:xfrm>
            <a:custGeom>
              <a:avLst/>
              <a:gdLst/>
              <a:ahLst/>
              <a:cxnLst/>
              <a:rect l="l" t="t" r="r" b="b"/>
              <a:pathLst>
                <a:path w="4969807" h="31608">
                  <a:moveTo>
                    <a:pt x="0" y="0"/>
                  </a:moveTo>
                  <a:lnTo>
                    <a:pt x="4969807" y="0"/>
                  </a:lnTo>
                  <a:lnTo>
                    <a:pt x="4969807" y="31608"/>
                  </a:lnTo>
                  <a:lnTo>
                    <a:pt x="0" y="31608"/>
                  </a:lnTo>
                  <a:close/>
                </a:path>
              </a:pathLst>
            </a:custGeom>
            <a:solidFill>
              <a:srgbClr val="191919"/>
            </a:solidFill>
            <a:ln w="19050" cap="sq">
              <a:solidFill>
                <a:srgbClr val="191919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4969807" cy="792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E8EA0D-9731-BAF1-0C9E-6CD6F93A67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136D3EA8-0D65-5E4A-FB23-64067FDFA6A0}"/>
              </a:ext>
            </a:extLst>
          </p:cNvPr>
          <p:cNvGrpSpPr/>
          <p:nvPr/>
        </p:nvGrpSpPr>
        <p:grpSpPr>
          <a:xfrm>
            <a:off x="-290868" y="10008764"/>
            <a:ext cx="18869735" cy="120011"/>
            <a:chOff x="0" y="0"/>
            <a:chExt cx="4969807" cy="31608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56DA79B8-9EC9-8761-42C5-1CABFD945509}"/>
                </a:ext>
              </a:extLst>
            </p:cNvPr>
            <p:cNvSpPr/>
            <p:nvPr/>
          </p:nvSpPr>
          <p:spPr>
            <a:xfrm>
              <a:off x="0" y="0"/>
              <a:ext cx="4969807" cy="31608"/>
            </a:xfrm>
            <a:custGeom>
              <a:avLst/>
              <a:gdLst/>
              <a:ahLst/>
              <a:cxnLst/>
              <a:rect l="l" t="t" r="r" b="b"/>
              <a:pathLst>
                <a:path w="4969807" h="31608">
                  <a:moveTo>
                    <a:pt x="0" y="0"/>
                  </a:moveTo>
                  <a:lnTo>
                    <a:pt x="4969807" y="0"/>
                  </a:lnTo>
                  <a:lnTo>
                    <a:pt x="4969807" y="31608"/>
                  </a:lnTo>
                  <a:lnTo>
                    <a:pt x="0" y="31608"/>
                  </a:lnTo>
                  <a:close/>
                </a:path>
              </a:pathLst>
            </a:custGeom>
            <a:solidFill>
              <a:srgbClr val="191919"/>
            </a:solidFill>
            <a:ln w="19050" cap="sq">
              <a:solidFill>
                <a:srgbClr val="191919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1F31E032-5965-6D94-B721-2CF8CD973859}"/>
                </a:ext>
              </a:extLst>
            </p:cNvPr>
            <p:cNvSpPr txBox="1"/>
            <p:nvPr/>
          </p:nvSpPr>
          <p:spPr>
            <a:xfrm>
              <a:off x="0" y="-47625"/>
              <a:ext cx="4969807" cy="792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TextBox 5">
            <a:extLst>
              <a:ext uri="{FF2B5EF4-FFF2-40B4-BE49-F238E27FC236}">
                <a16:creationId xmlns:a16="http://schemas.microsoft.com/office/drawing/2014/main" id="{01E6055E-A574-137E-B90E-AE081FBB73C7}"/>
              </a:ext>
            </a:extLst>
          </p:cNvPr>
          <p:cNvSpPr txBox="1"/>
          <p:nvPr/>
        </p:nvSpPr>
        <p:spPr>
          <a:xfrm>
            <a:off x="13378146" y="781050"/>
            <a:ext cx="3881154" cy="4245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639"/>
              </a:lnSpc>
              <a:spcBef>
                <a:spcPct val="0"/>
              </a:spcBef>
            </a:pPr>
            <a:r>
              <a:rPr lang="en-US" sz="2599" dirty="0" err="1">
                <a:solidFill>
                  <a:srgbClr val="191919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  <a:sym typeface="윤고딕"/>
              </a:rPr>
              <a:t>프로젝트</a:t>
            </a:r>
            <a:r>
              <a:rPr lang="en-US" sz="2599" dirty="0">
                <a:solidFill>
                  <a:srgbClr val="191919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  <a:sym typeface="윤고딕"/>
              </a:rPr>
              <a:t> </a:t>
            </a:r>
            <a:r>
              <a:rPr lang="ko-KR" altLang="en-US" sz="2599" dirty="0">
                <a:solidFill>
                  <a:srgbClr val="191919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  <a:sym typeface="윤고딕"/>
              </a:rPr>
              <a:t>개요</a:t>
            </a:r>
            <a:endParaRPr lang="en-US" sz="2599" dirty="0">
              <a:solidFill>
                <a:srgbClr val="191919"/>
              </a:solidFill>
              <a:latin typeface="Pretendard Medium" panose="02000503000000020004" pitchFamily="2" charset="-127"/>
              <a:ea typeface="Pretendard Medium" panose="02000503000000020004" pitchFamily="2" charset="-127"/>
              <a:cs typeface="Pretendard Medium" panose="02000503000000020004" pitchFamily="2" charset="-127"/>
              <a:sym typeface="윤고딕"/>
            </a:endParaRP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618A3B75-0696-DCFB-7C83-21F128E23A82}"/>
              </a:ext>
            </a:extLst>
          </p:cNvPr>
          <p:cNvSpPr txBox="1"/>
          <p:nvPr/>
        </p:nvSpPr>
        <p:spPr>
          <a:xfrm>
            <a:off x="1123950" y="944123"/>
            <a:ext cx="3524250" cy="7764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6589"/>
              </a:lnSpc>
              <a:spcBef>
                <a:spcPct val="0"/>
              </a:spcBef>
            </a:pPr>
            <a:r>
              <a:rPr lang="ko-KR" altLang="en-US" sz="4706" spc="-65" dirty="0">
                <a:solidFill>
                  <a:srgbClr val="191919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  <a:sym typeface="윤고딕"/>
              </a:rPr>
              <a:t>프로젝트 개요</a:t>
            </a:r>
            <a:endParaRPr lang="en-US" sz="4706" spc="-65" dirty="0">
              <a:solidFill>
                <a:srgbClr val="191919"/>
              </a:solidFill>
              <a:latin typeface="Pretendard Medium" panose="02000503000000020004" pitchFamily="2" charset="-127"/>
              <a:ea typeface="Pretendard Medium" panose="02000503000000020004" pitchFamily="2" charset="-127"/>
              <a:cs typeface="Pretendard Medium" panose="02000503000000020004" pitchFamily="2" charset="-127"/>
              <a:sym typeface="윤고딕"/>
            </a:endParaRPr>
          </a:p>
        </p:txBody>
      </p:sp>
      <p:sp>
        <p:nvSpPr>
          <p:cNvPr id="7" name="AutoShape 7">
            <a:extLst>
              <a:ext uri="{FF2B5EF4-FFF2-40B4-BE49-F238E27FC236}">
                <a16:creationId xmlns:a16="http://schemas.microsoft.com/office/drawing/2014/main" id="{B11EF44C-233E-D32F-D296-C9208CD7E1D6}"/>
              </a:ext>
            </a:extLst>
          </p:cNvPr>
          <p:cNvSpPr/>
          <p:nvPr/>
        </p:nvSpPr>
        <p:spPr>
          <a:xfrm>
            <a:off x="0" y="828675"/>
            <a:ext cx="3276389" cy="0"/>
          </a:xfrm>
          <a:prstGeom prst="line">
            <a:avLst/>
          </a:prstGeom>
          <a:ln w="38100" cap="flat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1F557B76-2407-66D8-1EEA-0F858A72ACEA}"/>
              </a:ext>
            </a:extLst>
          </p:cNvPr>
          <p:cNvSpPr txBox="1"/>
          <p:nvPr/>
        </p:nvSpPr>
        <p:spPr>
          <a:xfrm>
            <a:off x="2331991" y="4673600"/>
            <a:ext cx="4024366" cy="9380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9"/>
              </a:lnSpc>
              <a:spcBef>
                <a:spcPct val="0"/>
              </a:spcBef>
            </a:pPr>
            <a:r>
              <a:rPr lang="ko-KR" altLang="en-US" sz="2699" dirty="0">
                <a:solidFill>
                  <a:srgbClr val="19191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윤고딕 Light"/>
              </a:rPr>
              <a:t>유저들에게 영화</a:t>
            </a:r>
            <a:r>
              <a:rPr lang="en-US" altLang="ko-KR" sz="2699" dirty="0">
                <a:solidFill>
                  <a:srgbClr val="19191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윤고딕 Light"/>
              </a:rPr>
              <a:t>, </a:t>
            </a:r>
            <a:r>
              <a:rPr lang="ko-KR" altLang="en-US" sz="2699" dirty="0">
                <a:solidFill>
                  <a:srgbClr val="19191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윤고딕 Light"/>
              </a:rPr>
              <a:t>공연들에 대한 정보 제공</a:t>
            </a:r>
            <a:endParaRPr lang="en-US" sz="2699" dirty="0">
              <a:solidFill>
                <a:srgbClr val="191919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  <a:sym typeface="윤고딕 Light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66F0815A-C9EB-AB96-D018-A9FF1CDA5564}"/>
              </a:ext>
            </a:extLst>
          </p:cNvPr>
          <p:cNvSpPr txBox="1"/>
          <p:nvPr/>
        </p:nvSpPr>
        <p:spPr>
          <a:xfrm>
            <a:off x="7351569" y="4673600"/>
            <a:ext cx="4024366" cy="14253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9"/>
              </a:lnSpc>
              <a:spcBef>
                <a:spcPct val="0"/>
              </a:spcBef>
            </a:pPr>
            <a:r>
              <a:rPr lang="ko-KR" altLang="en-US" sz="2699" dirty="0">
                <a:solidFill>
                  <a:srgbClr val="19191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윤고딕 Light"/>
              </a:rPr>
              <a:t>유저 취향과 상황 기반으로 다른 영화</a:t>
            </a:r>
            <a:r>
              <a:rPr lang="en-US" altLang="ko-KR" sz="2699" dirty="0">
                <a:solidFill>
                  <a:srgbClr val="19191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윤고딕 Light"/>
              </a:rPr>
              <a:t>, </a:t>
            </a:r>
            <a:r>
              <a:rPr lang="ko-KR" altLang="en-US" sz="2699" dirty="0">
                <a:solidFill>
                  <a:srgbClr val="19191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윤고딕 Light"/>
              </a:rPr>
              <a:t>공연 추천으로 관심도 증가</a:t>
            </a:r>
            <a:endParaRPr lang="en-US" altLang="ko-KR" sz="2699" dirty="0">
              <a:solidFill>
                <a:srgbClr val="191919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  <a:sym typeface="윤고딕 Light"/>
            </a:endParaRP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E27DB439-CCAB-1F14-1319-02CB41343A1A}"/>
              </a:ext>
            </a:extLst>
          </p:cNvPr>
          <p:cNvSpPr txBox="1"/>
          <p:nvPr/>
        </p:nvSpPr>
        <p:spPr>
          <a:xfrm>
            <a:off x="12371147" y="4673600"/>
            <a:ext cx="4024366" cy="14253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9"/>
              </a:lnSpc>
              <a:spcBef>
                <a:spcPct val="0"/>
              </a:spcBef>
            </a:pPr>
            <a:r>
              <a:rPr lang="ko-KR" altLang="en-US" sz="2699" dirty="0">
                <a:solidFill>
                  <a:srgbClr val="19191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윤고딕 Light"/>
              </a:rPr>
              <a:t>영화 및 공연 정보</a:t>
            </a:r>
            <a:r>
              <a:rPr lang="en-US" altLang="ko-KR" sz="2699" dirty="0">
                <a:solidFill>
                  <a:srgbClr val="19191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윤고딕 Light"/>
              </a:rPr>
              <a:t>, </a:t>
            </a:r>
            <a:r>
              <a:rPr lang="ko-KR" altLang="en-US" sz="2699" dirty="0">
                <a:solidFill>
                  <a:srgbClr val="19191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윤고딕 Light"/>
              </a:rPr>
              <a:t>공연 예매 페이지 제공 등으로 실질적인 사용으로 이어짐 </a:t>
            </a:r>
            <a:endParaRPr lang="en-US" sz="2699" dirty="0">
              <a:solidFill>
                <a:srgbClr val="191919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  <a:sym typeface="윤고딕 Light"/>
            </a:endParaRP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47D276BB-5CC2-BB48-7EDC-42509FAD4179}"/>
              </a:ext>
            </a:extLst>
          </p:cNvPr>
          <p:cNvSpPr txBox="1"/>
          <p:nvPr/>
        </p:nvSpPr>
        <p:spPr>
          <a:xfrm>
            <a:off x="2331991" y="2352043"/>
            <a:ext cx="1505013" cy="27822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2897"/>
              </a:lnSpc>
              <a:spcBef>
                <a:spcPct val="0"/>
              </a:spcBef>
            </a:pPr>
            <a:r>
              <a:rPr lang="en-US" sz="16355" u="none" strike="noStrike" dirty="0">
                <a:solidFill>
                  <a:srgbClr val="191919"/>
                </a:solidFill>
                <a:latin typeface="Beautifully Delicious Script"/>
                <a:ea typeface="Beautifully Delicious Script"/>
                <a:cs typeface="Beautifully Delicious Script"/>
                <a:sym typeface="Beautifully Delicious Script"/>
              </a:rPr>
              <a:t>1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1EFF9EF1-4A0D-0633-3154-3B5146CD7A22}"/>
              </a:ext>
            </a:extLst>
          </p:cNvPr>
          <p:cNvSpPr txBox="1"/>
          <p:nvPr/>
        </p:nvSpPr>
        <p:spPr>
          <a:xfrm>
            <a:off x="7351569" y="2352043"/>
            <a:ext cx="1505013" cy="27822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2897"/>
              </a:lnSpc>
              <a:spcBef>
                <a:spcPct val="0"/>
              </a:spcBef>
            </a:pPr>
            <a:r>
              <a:rPr lang="en-US" sz="16355" u="none" strike="noStrike">
                <a:solidFill>
                  <a:srgbClr val="191919"/>
                </a:solidFill>
                <a:latin typeface="Beautifully Delicious Script"/>
                <a:ea typeface="Beautifully Delicious Script"/>
                <a:cs typeface="Beautifully Delicious Script"/>
                <a:sym typeface="Beautifully Delicious Script"/>
              </a:rPr>
              <a:t>2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AFD49694-FF05-AE07-2B78-947BA3C4B703}"/>
              </a:ext>
            </a:extLst>
          </p:cNvPr>
          <p:cNvSpPr txBox="1"/>
          <p:nvPr/>
        </p:nvSpPr>
        <p:spPr>
          <a:xfrm>
            <a:off x="12371147" y="2352043"/>
            <a:ext cx="1505013" cy="27822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2897"/>
              </a:lnSpc>
              <a:spcBef>
                <a:spcPct val="0"/>
              </a:spcBef>
            </a:pPr>
            <a:r>
              <a:rPr lang="en-US" sz="16355" u="none" strike="noStrike">
                <a:solidFill>
                  <a:srgbClr val="191919"/>
                </a:solidFill>
                <a:latin typeface="Beautifully Delicious Script"/>
                <a:ea typeface="Beautifully Delicious Script"/>
                <a:cs typeface="Beautifully Delicious Script"/>
                <a:sym typeface="Beautifully Delicious Script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7907264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95C5FD-49EC-DD04-213D-75BB0EDA81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A4FCAA92-2D01-3A20-81D6-E72C923B2E34}"/>
              </a:ext>
            </a:extLst>
          </p:cNvPr>
          <p:cNvGrpSpPr/>
          <p:nvPr/>
        </p:nvGrpSpPr>
        <p:grpSpPr>
          <a:xfrm>
            <a:off x="-290868" y="10008764"/>
            <a:ext cx="18869735" cy="120011"/>
            <a:chOff x="0" y="0"/>
            <a:chExt cx="4969807" cy="31608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64E34CE2-15F8-B2C6-6DF2-C06126FADE8B}"/>
                </a:ext>
              </a:extLst>
            </p:cNvPr>
            <p:cNvSpPr/>
            <p:nvPr/>
          </p:nvSpPr>
          <p:spPr>
            <a:xfrm>
              <a:off x="0" y="0"/>
              <a:ext cx="4969807" cy="31608"/>
            </a:xfrm>
            <a:custGeom>
              <a:avLst/>
              <a:gdLst/>
              <a:ahLst/>
              <a:cxnLst/>
              <a:rect l="l" t="t" r="r" b="b"/>
              <a:pathLst>
                <a:path w="4969807" h="31608">
                  <a:moveTo>
                    <a:pt x="0" y="0"/>
                  </a:moveTo>
                  <a:lnTo>
                    <a:pt x="4969807" y="0"/>
                  </a:lnTo>
                  <a:lnTo>
                    <a:pt x="4969807" y="31608"/>
                  </a:lnTo>
                  <a:lnTo>
                    <a:pt x="0" y="31608"/>
                  </a:lnTo>
                  <a:close/>
                </a:path>
              </a:pathLst>
            </a:custGeom>
            <a:solidFill>
              <a:srgbClr val="191919"/>
            </a:solidFill>
            <a:ln w="19050" cap="sq">
              <a:solidFill>
                <a:srgbClr val="191919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A4253F0D-9C90-877F-646E-9B05C2B2DB97}"/>
                </a:ext>
              </a:extLst>
            </p:cNvPr>
            <p:cNvSpPr txBox="1"/>
            <p:nvPr/>
          </p:nvSpPr>
          <p:spPr>
            <a:xfrm>
              <a:off x="0" y="-47625"/>
              <a:ext cx="4969807" cy="792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TextBox 5">
            <a:extLst>
              <a:ext uri="{FF2B5EF4-FFF2-40B4-BE49-F238E27FC236}">
                <a16:creationId xmlns:a16="http://schemas.microsoft.com/office/drawing/2014/main" id="{AE182413-9902-6EDB-A803-2A13E7C24F0B}"/>
              </a:ext>
            </a:extLst>
          </p:cNvPr>
          <p:cNvSpPr txBox="1"/>
          <p:nvPr/>
        </p:nvSpPr>
        <p:spPr>
          <a:xfrm>
            <a:off x="13378146" y="781050"/>
            <a:ext cx="3881154" cy="4245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639"/>
              </a:lnSpc>
              <a:spcBef>
                <a:spcPct val="0"/>
              </a:spcBef>
            </a:pPr>
            <a:r>
              <a:rPr lang="en-US" sz="2599" dirty="0" err="1">
                <a:solidFill>
                  <a:srgbClr val="191919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  <a:sym typeface="윤고딕"/>
              </a:rPr>
              <a:t>프로젝트</a:t>
            </a:r>
            <a:r>
              <a:rPr lang="en-US" sz="2599" dirty="0">
                <a:solidFill>
                  <a:srgbClr val="191919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  <a:sym typeface="윤고딕"/>
              </a:rPr>
              <a:t> </a:t>
            </a:r>
            <a:r>
              <a:rPr lang="ko-KR" altLang="en-US" sz="2599" dirty="0">
                <a:solidFill>
                  <a:srgbClr val="191919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  <a:sym typeface="윤고딕"/>
              </a:rPr>
              <a:t>개요</a:t>
            </a:r>
            <a:endParaRPr lang="en-US" sz="2599" dirty="0">
              <a:solidFill>
                <a:srgbClr val="191919"/>
              </a:solidFill>
              <a:latin typeface="Pretendard Medium" panose="02000503000000020004" pitchFamily="2" charset="-127"/>
              <a:ea typeface="Pretendard Medium" panose="02000503000000020004" pitchFamily="2" charset="-127"/>
              <a:cs typeface="Pretendard Medium" panose="02000503000000020004" pitchFamily="2" charset="-127"/>
              <a:sym typeface="윤고딕"/>
            </a:endParaRP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ADF03EEB-926B-98C6-8AEB-45293ED06B8F}"/>
              </a:ext>
            </a:extLst>
          </p:cNvPr>
          <p:cNvSpPr txBox="1"/>
          <p:nvPr/>
        </p:nvSpPr>
        <p:spPr>
          <a:xfrm>
            <a:off x="-1447800" y="985700"/>
            <a:ext cx="7258050" cy="7764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6589"/>
              </a:lnSpc>
              <a:spcBef>
                <a:spcPct val="0"/>
              </a:spcBef>
            </a:pPr>
            <a:r>
              <a:rPr lang="en-US" sz="4706" spc="-65" dirty="0">
                <a:solidFill>
                  <a:srgbClr val="191919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  <a:sym typeface="윤고딕"/>
              </a:rPr>
              <a:t>Sequence Diagram</a:t>
            </a:r>
          </a:p>
        </p:txBody>
      </p:sp>
      <p:sp>
        <p:nvSpPr>
          <p:cNvPr id="7" name="AutoShape 7">
            <a:extLst>
              <a:ext uri="{FF2B5EF4-FFF2-40B4-BE49-F238E27FC236}">
                <a16:creationId xmlns:a16="http://schemas.microsoft.com/office/drawing/2014/main" id="{3397EE2A-522D-14EC-4436-04C86DEBC7D4}"/>
              </a:ext>
            </a:extLst>
          </p:cNvPr>
          <p:cNvSpPr/>
          <p:nvPr/>
        </p:nvSpPr>
        <p:spPr>
          <a:xfrm>
            <a:off x="0" y="828675"/>
            <a:ext cx="3276389" cy="0"/>
          </a:xfrm>
          <a:prstGeom prst="line">
            <a:avLst/>
          </a:prstGeom>
          <a:ln w="38100" cap="flat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BE9D986E-C183-B151-7B8B-B3D04AE2290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6199" y="2103768"/>
            <a:ext cx="10515600" cy="7402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75372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709183" y="4654503"/>
            <a:ext cx="6869633" cy="9618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492"/>
              </a:lnSpc>
            </a:pPr>
            <a:r>
              <a:rPr lang="ko-KR" altLang="en-US" sz="6514" b="1" spc="-214" dirty="0">
                <a:solidFill>
                  <a:srgbClr val="191919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  <a:sym typeface="윤고딕 Bold"/>
              </a:rPr>
              <a:t>주요 기능</a:t>
            </a:r>
            <a:endParaRPr lang="en-US" sz="6514" b="1" spc="-214" dirty="0">
              <a:solidFill>
                <a:srgbClr val="191919"/>
              </a:solidFill>
              <a:latin typeface="Pretendard SemiBold" panose="02000503000000020004" pitchFamily="2" charset="-127"/>
              <a:ea typeface="Pretendard SemiBold" panose="02000503000000020004" pitchFamily="2" charset="-127"/>
              <a:cs typeface="Pretendard SemiBold" panose="02000503000000020004" pitchFamily="2" charset="-127"/>
              <a:sym typeface="윤고딕 Bold"/>
            </a:endParaRPr>
          </a:p>
        </p:txBody>
      </p:sp>
      <p:grpSp>
        <p:nvGrpSpPr>
          <p:cNvPr id="3" name="Group 3"/>
          <p:cNvGrpSpPr/>
          <p:nvPr/>
        </p:nvGrpSpPr>
        <p:grpSpPr>
          <a:xfrm>
            <a:off x="-290868" y="10008764"/>
            <a:ext cx="18869735" cy="120011"/>
            <a:chOff x="0" y="0"/>
            <a:chExt cx="4969807" cy="3160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969807" cy="31608"/>
            </a:xfrm>
            <a:custGeom>
              <a:avLst/>
              <a:gdLst/>
              <a:ahLst/>
              <a:cxnLst/>
              <a:rect l="l" t="t" r="r" b="b"/>
              <a:pathLst>
                <a:path w="4969807" h="31608">
                  <a:moveTo>
                    <a:pt x="0" y="0"/>
                  </a:moveTo>
                  <a:lnTo>
                    <a:pt x="4969807" y="0"/>
                  </a:lnTo>
                  <a:lnTo>
                    <a:pt x="4969807" y="31608"/>
                  </a:lnTo>
                  <a:lnTo>
                    <a:pt x="0" y="31608"/>
                  </a:lnTo>
                  <a:close/>
                </a:path>
              </a:pathLst>
            </a:custGeom>
            <a:solidFill>
              <a:srgbClr val="191919"/>
            </a:solidFill>
            <a:ln w="19050" cap="sq">
              <a:solidFill>
                <a:srgbClr val="191919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4969807" cy="792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290868" y="9717040"/>
            <a:ext cx="18869735" cy="120011"/>
            <a:chOff x="0" y="0"/>
            <a:chExt cx="4969807" cy="3160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969807" cy="31608"/>
            </a:xfrm>
            <a:custGeom>
              <a:avLst/>
              <a:gdLst/>
              <a:ahLst/>
              <a:cxnLst/>
              <a:rect l="l" t="t" r="r" b="b"/>
              <a:pathLst>
                <a:path w="4969807" h="31608">
                  <a:moveTo>
                    <a:pt x="0" y="0"/>
                  </a:moveTo>
                  <a:lnTo>
                    <a:pt x="4969807" y="0"/>
                  </a:lnTo>
                  <a:lnTo>
                    <a:pt x="4969807" y="31608"/>
                  </a:lnTo>
                  <a:lnTo>
                    <a:pt x="0" y="31608"/>
                  </a:lnTo>
                  <a:close/>
                </a:path>
              </a:pathLst>
            </a:custGeom>
            <a:solidFill>
              <a:srgbClr val="191919"/>
            </a:solidFill>
            <a:ln w="19050" cap="sq">
              <a:solidFill>
                <a:srgbClr val="191919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4969807" cy="792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38F666-598F-74CE-562A-7126CA6910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4D58B48D-3412-52BC-D6D6-30018DA0F37A}"/>
              </a:ext>
            </a:extLst>
          </p:cNvPr>
          <p:cNvGrpSpPr/>
          <p:nvPr/>
        </p:nvGrpSpPr>
        <p:grpSpPr>
          <a:xfrm>
            <a:off x="-290868" y="10008764"/>
            <a:ext cx="18869735" cy="120011"/>
            <a:chOff x="0" y="0"/>
            <a:chExt cx="4969807" cy="31608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8B88153D-62D5-6EBC-BED6-782EE1C7865C}"/>
                </a:ext>
              </a:extLst>
            </p:cNvPr>
            <p:cNvSpPr/>
            <p:nvPr/>
          </p:nvSpPr>
          <p:spPr>
            <a:xfrm>
              <a:off x="0" y="0"/>
              <a:ext cx="4969807" cy="31608"/>
            </a:xfrm>
            <a:custGeom>
              <a:avLst/>
              <a:gdLst/>
              <a:ahLst/>
              <a:cxnLst/>
              <a:rect l="l" t="t" r="r" b="b"/>
              <a:pathLst>
                <a:path w="4969807" h="31608">
                  <a:moveTo>
                    <a:pt x="0" y="0"/>
                  </a:moveTo>
                  <a:lnTo>
                    <a:pt x="4969807" y="0"/>
                  </a:lnTo>
                  <a:lnTo>
                    <a:pt x="4969807" y="31608"/>
                  </a:lnTo>
                  <a:lnTo>
                    <a:pt x="0" y="31608"/>
                  </a:lnTo>
                  <a:close/>
                </a:path>
              </a:pathLst>
            </a:custGeom>
            <a:solidFill>
              <a:srgbClr val="191919"/>
            </a:solidFill>
            <a:ln w="19050" cap="sq">
              <a:solidFill>
                <a:srgbClr val="191919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007ABAB8-B6E8-D367-369E-6E3BB98D0E37}"/>
                </a:ext>
              </a:extLst>
            </p:cNvPr>
            <p:cNvSpPr txBox="1"/>
            <p:nvPr/>
          </p:nvSpPr>
          <p:spPr>
            <a:xfrm>
              <a:off x="0" y="-47625"/>
              <a:ext cx="4969807" cy="792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TextBox 5">
            <a:extLst>
              <a:ext uri="{FF2B5EF4-FFF2-40B4-BE49-F238E27FC236}">
                <a16:creationId xmlns:a16="http://schemas.microsoft.com/office/drawing/2014/main" id="{70566981-D40C-DD33-41D7-E65C357FAC15}"/>
              </a:ext>
            </a:extLst>
          </p:cNvPr>
          <p:cNvSpPr txBox="1"/>
          <p:nvPr/>
        </p:nvSpPr>
        <p:spPr>
          <a:xfrm>
            <a:off x="13378146" y="781050"/>
            <a:ext cx="3881154" cy="4245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639"/>
              </a:lnSpc>
              <a:spcBef>
                <a:spcPct val="0"/>
              </a:spcBef>
            </a:pPr>
            <a:r>
              <a:rPr lang="ko-KR" altLang="en-US" sz="2599" dirty="0">
                <a:solidFill>
                  <a:srgbClr val="191919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  <a:sym typeface="윤고딕"/>
              </a:rPr>
              <a:t>주요 기능</a:t>
            </a:r>
            <a:endParaRPr lang="en-US" sz="2599" dirty="0">
              <a:solidFill>
                <a:srgbClr val="191919"/>
              </a:solidFill>
              <a:latin typeface="Pretendard Medium" panose="02000503000000020004" pitchFamily="2" charset="-127"/>
              <a:ea typeface="Pretendard Medium" panose="02000503000000020004" pitchFamily="2" charset="-127"/>
              <a:cs typeface="Pretendard Medium" panose="02000503000000020004" pitchFamily="2" charset="-127"/>
              <a:sym typeface="윤고딕"/>
            </a:endParaRP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3420724C-D796-C9F4-FDA3-341FA77AAB8D}"/>
              </a:ext>
            </a:extLst>
          </p:cNvPr>
          <p:cNvSpPr txBox="1"/>
          <p:nvPr/>
        </p:nvSpPr>
        <p:spPr>
          <a:xfrm>
            <a:off x="2190814" y="944123"/>
            <a:ext cx="1161986" cy="7764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6589"/>
              </a:lnSpc>
              <a:spcBef>
                <a:spcPct val="0"/>
              </a:spcBef>
            </a:pPr>
            <a:r>
              <a:rPr lang="ko-KR" altLang="en-US" sz="4706" spc="-65" dirty="0">
                <a:solidFill>
                  <a:srgbClr val="191919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  <a:sym typeface="윤고딕"/>
              </a:rPr>
              <a:t>영화</a:t>
            </a:r>
            <a:endParaRPr lang="en-US" sz="4706" spc="-65" dirty="0">
              <a:solidFill>
                <a:srgbClr val="191919"/>
              </a:solidFill>
              <a:latin typeface="Pretendard Medium" panose="02000503000000020004" pitchFamily="2" charset="-127"/>
              <a:ea typeface="Pretendard Medium" panose="02000503000000020004" pitchFamily="2" charset="-127"/>
              <a:cs typeface="Pretendard Medium" panose="02000503000000020004" pitchFamily="2" charset="-127"/>
              <a:sym typeface="윤고딕"/>
            </a:endParaRPr>
          </a:p>
        </p:txBody>
      </p:sp>
      <p:sp>
        <p:nvSpPr>
          <p:cNvPr id="7" name="AutoShape 7">
            <a:extLst>
              <a:ext uri="{FF2B5EF4-FFF2-40B4-BE49-F238E27FC236}">
                <a16:creationId xmlns:a16="http://schemas.microsoft.com/office/drawing/2014/main" id="{77BACC7B-6078-927B-775C-AEFB8E008B66}"/>
              </a:ext>
            </a:extLst>
          </p:cNvPr>
          <p:cNvSpPr/>
          <p:nvPr/>
        </p:nvSpPr>
        <p:spPr>
          <a:xfrm>
            <a:off x="0" y="828675"/>
            <a:ext cx="3276389" cy="0"/>
          </a:xfrm>
          <a:prstGeom prst="line">
            <a:avLst/>
          </a:prstGeom>
          <a:ln w="38100" cap="flat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87698D03-DAF3-6C57-307D-3C60512B98D1}"/>
              </a:ext>
            </a:extLst>
          </p:cNvPr>
          <p:cNvSpPr txBox="1"/>
          <p:nvPr/>
        </p:nvSpPr>
        <p:spPr>
          <a:xfrm>
            <a:off x="3321107" y="3013096"/>
            <a:ext cx="4024366" cy="5043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9"/>
              </a:lnSpc>
              <a:spcBef>
                <a:spcPct val="0"/>
              </a:spcBef>
            </a:pPr>
            <a:r>
              <a:rPr lang="ko-KR" altLang="en-US" sz="4000" dirty="0">
                <a:solidFill>
                  <a:srgbClr val="19191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윤고딕 Light"/>
              </a:rPr>
              <a:t>영화 검색</a:t>
            </a:r>
            <a:endParaRPr lang="en-US" sz="4000" dirty="0">
              <a:solidFill>
                <a:srgbClr val="191919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  <a:sym typeface="윤고딕 Light"/>
            </a:endParaRP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731E7BFA-0192-A1EE-091B-9B74F800F13F}"/>
              </a:ext>
            </a:extLst>
          </p:cNvPr>
          <p:cNvSpPr txBox="1"/>
          <p:nvPr/>
        </p:nvSpPr>
        <p:spPr>
          <a:xfrm>
            <a:off x="1905000" y="1324750"/>
            <a:ext cx="1505013" cy="27822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2897"/>
              </a:lnSpc>
              <a:spcBef>
                <a:spcPct val="0"/>
              </a:spcBef>
            </a:pPr>
            <a:r>
              <a:rPr lang="en-US" sz="16355" u="none" strike="noStrike" dirty="0">
                <a:solidFill>
                  <a:srgbClr val="191919"/>
                </a:solidFill>
                <a:latin typeface="Beautifully Delicious Script"/>
                <a:ea typeface="Beautifully Delicious Script"/>
                <a:cs typeface="Beautifully Delicious Script"/>
                <a:sym typeface="Beautifully Delicious Script"/>
              </a:rPr>
              <a:t>1</a:t>
            </a:r>
          </a:p>
        </p:txBody>
      </p:sp>
      <p:sp>
        <p:nvSpPr>
          <p:cNvPr id="14" name="TextBox 11">
            <a:extLst>
              <a:ext uri="{FF2B5EF4-FFF2-40B4-BE49-F238E27FC236}">
                <a16:creationId xmlns:a16="http://schemas.microsoft.com/office/drawing/2014/main" id="{05F0C963-C0EC-A009-795F-7D05603145D5}"/>
              </a:ext>
            </a:extLst>
          </p:cNvPr>
          <p:cNvSpPr txBox="1"/>
          <p:nvPr/>
        </p:nvSpPr>
        <p:spPr>
          <a:xfrm>
            <a:off x="1752600" y="3096500"/>
            <a:ext cx="1505013" cy="29367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2897"/>
              </a:lnSpc>
              <a:spcBef>
                <a:spcPct val="0"/>
              </a:spcBef>
            </a:pPr>
            <a:r>
              <a:rPr lang="en-US" altLang="ko-KR" sz="16355" u="none" strike="noStrike" dirty="0">
                <a:solidFill>
                  <a:srgbClr val="191919"/>
                </a:solidFill>
                <a:latin typeface="Beautifully Delicious Script"/>
                <a:ea typeface="Beautifully Delicious Script"/>
                <a:cs typeface="Beautifully Delicious Script"/>
                <a:sym typeface="Beautifully Delicious Script"/>
              </a:rPr>
              <a:t>2</a:t>
            </a:r>
            <a:endParaRPr lang="en-US" sz="16355" u="none" strike="noStrike" dirty="0">
              <a:solidFill>
                <a:srgbClr val="191919"/>
              </a:solidFill>
              <a:latin typeface="Beautifully Delicious Script"/>
              <a:ea typeface="Beautifully Delicious Script"/>
              <a:cs typeface="Beautifully Delicious Script"/>
              <a:sym typeface="Beautifully Delicious Script"/>
            </a:endParaRPr>
          </a:p>
        </p:txBody>
      </p:sp>
      <p:sp>
        <p:nvSpPr>
          <p:cNvPr id="15" name="TextBox 11">
            <a:extLst>
              <a:ext uri="{FF2B5EF4-FFF2-40B4-BE49-F238E27FC236}">
                <a16:creationId xmlns:a16="http://schemas.microsoft.com/office/drawing/2014/main" id="{0F00AAD3-9E66-BC02-4FE2-693751E2349C}"/>
              </a:ext>
            </a:extLst>
          </p:cNvPr>
          <p:cNvSpPr txBox="1"/>
          <p:nvPr/>
        </p:nvSpPr>
        <p:spPr>
          <a:xfrm>
            <a:off x="1752600" y="4896850"/>
            <a:ext cx="1505013" cy="29367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2897"/>
              </a:lnSpc>
              <a:spcBef>
                <a:spcPct val="0"/>
              </a:spcBef>
            </a:pPr>
            <a:r>
              <a:rPr lang="en-US" altLang="ko-KR" sz="16355" u="none" strike="noStrike" dirty="0">
                <a:solidFill>
                  <a:srgbClr val="191919"/>
                </a:solidFill>
                <a:latin typeface="Beautifully Delicious Script"/>
                <a:ea typeface="Beautifully Delicious Script"/>
                <a:cs typeface="Beautifully Delicious Script"/>
                <a:sym typeface="Beautifully Delicious Script"/>
              </a:rPr>
              <a:t>3</a:t>
            </a:r>
            <a:endParaRPr lang="en-US" sz="16355" u="none" strike="noStrike" dirty="0">
              <a:solidFill>
                <a:srgbClr val="191919"/>
              </a:solidFill>
              <a:latin typeface="Beautifully Delicious Script"/>
              <a:ea typeface="Beautifully Delicious Script"/>
              <a:cs typeface="Beautifully Delicious Script"/>
              <a:sym typeface="Beautifully Delicious Script"/>
            </a:endParaRPr>
          </a:p>
        </p:txBody>
      </p:sp>
      <p:sp>
        <p:nvSpPr>
          <p:cNvPr id="16" name="TextBox 11">
            <a:extLst>
              <a:ext uri="{FF2B5EF4-FFF2-40B4-BE49-F238E27FC236}">
                <a16:creationId xmlns:a16="http://schemas.microsoft.com/office/drawing/2014/main" id="{FD78BCC3-5C23-5D24-3CE3-AA7D0BDEAEBC}"/>
              </a:ext>
            </a:extLst>
          </p:cNvPr>
          <p:cNvSpPr txBox="1"/>
          <p:nvPr/>
        </p:nvSpPr>
        <p:spPr>
          <a:xfrm>
            <a:off x="1619187" y="6549619"/>
            <a:ext cx="1505013" cy="29367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2897"/>
              </a:lnSpc>
              <a:spcBef>
                <a:spcPct val="0"/>
              </a:spcBef>
            </a:pPr>
            <a:r>
              <a:rPr lang="en-US" altLang="ko-KR" sz="16355" u="none" strike="noStrike" dirty="0">
                <a:solidFill>
                  <a:srgbClr val="191919"/>
                </a:solidFill>
                <a:latin typeface="Beautifully Delicious Script"/>
                <a:ea typeface="Beautifully Delicious Script"/>
                <a:cs typeface="Beautifully Delicious Script"/>
                <a:sym typeface="Beautifully Delicious Script"/>
              </a:rPr>
              <a:t>4</a:t>
            </a:r>
            <a:endParaRPr lang="en-US" sz="16355" u="none" strike="noStrike" dirty="0">
              <a:solidFill>
                <a:srgbClr val="191919"/>
              </a:solidFill>
              <a:latin typeface="Beautifully Delicious Script"/>
              <a:ea typeface="Beautifully Delicious Script"/>
              <a:cs typeface="Beautifully Delicious Script"/>
              <a:sym typeface="Beautifully Delicious Script"/>
            </a:endParaRPr>
          </a:p>
        </p:txBody>
      </p:sp>
      <p:sp>
        <p:nvSpPr>
          <p:cNvPr id="17" name="TextBox 8">
            <a:extLst>
              <a:ext uri="{FF2B5EF4-FFF2-40B4-BE49-F238E27FC236}">
                <a16:creationId xmlns:a16="http://schemas.microsoft.com/office/drawing/2014/main" id="{98B7272C-B9E0-C55C-BBA8-B38938B65F7E}"/>
              </a:ext>
            </a:extLst>
          </p:cNvPr>
          <p:cNvSpPr txBox="1"/>
          <p:nvPr/>
        </p:nvSpPr>
        <p:spPr>
          <a:xfrm>
            <a:off x="3321107" y="4783363"/>
            <a:ext cx="4024366" cy="5043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9"/>
              </a:lnSpc>
              <a:spcBef>
                <a:spcPct val="0"/>
              </a:spcBef>
            </a:pPr>
            <a:r>
              <a:rPr lang="ko-KR" altLang="en-US" sz="4000" dirty="0">
                <a:solidFill>
                  <a:srgbClr val="19191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윤고딕 Light"/>
              </a:rPr>
              <a:t>배우 </a:t>
            </a:r>
            <a:r>
              <a:rPr lang="en-US" altLang="ko-KR" sz="4000" dirty="0">
                <a:solidFill>
                  <a:srgbClr val="19191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윤고딕 Light"/>
              </a:rPr>
              <a:t>/ </a:t>
            </a:r>
            <a:r>
              <a:rPr lang="ko-KR" altLang="en-US" sz="4000" dirty="0">
                <a:solidFill>
                  <a:srgbClr val="19191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윤고딕 Light"/>
              </a:rPr>
              <a:t>감독 검색</a:t>
            </a:r>
            <a:endParaRPr lang="en-US" sz="4000" dirty="0">
              <a:solidFill>
                <a:srgbClr val="191919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  <a:sym typeface="윤고딕 Light"/>
            </a:endParaRPr>
          </a:p>
        </p:txBody>
      </p:sp>
      <p:sp>
        <p:nvSpPr>
          <p:cNvPr id="18" name="TextBox 8">
            <a:extLst>
              <a:ext uri="{FF2B5EF4-FFF2-40B4-BE49-F238E27FC236}">
                <a16:creationId xmlns:a16="http://schemas.microsoft.com/office/drawing/2014/main" id="{F4999B71-430D-7DA7-32CF-E766CC9B5D5A}"/>
              </a:ext>
            </a:extLst>
          </p:cNvPr>
          <p:cNvSpPr txBox="1"/>
          <p:nvPr/>
        </p:nvSpPr>
        <p:spPr>
          <a:xfrm>
            <a:off x="3321107" y="6637979"/>
            <a:ext cx="4024366" cy="5043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9"/>
              </a:lnSpc>
              <a:spcBef>
                <a:spcPct val="0"/>
              </a:spcBef>
            </a:pPr>
            <a:r>
              <a:rPr lang="ko-KR" altLang="en-US" sz="4000" dirty="0">
                <a:solidFill>
                  <a:srgbClr val="19191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윤고딕 Light"/>
              </a:rPr>
              <a:t>영화 추천</a:t>
            </a:r>
            <a:endParaRPr lang="en-US" sz="4000" dirty="0">
              <a:solidFill>
                <a:srgbClr val="191919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  <a:sym typeface="윤고딕 Light"/>
            </a:endParaRPr>
          </a:p>
        </p:txBody>
      </p:sp>
      <p:sp>
        <p:nvSpPr>
          <p:cNvPr id="19" name="TextBox 8">
            <a:extLst>
              <a:ext uri="{FF2B5EF4-FFF2-40B4-BE49-F238E27FC236}">
                <a16:creationId xmlns:a16="http://schemas.microsoft.com/office/drawing/2014/main" id="{333B6C41-DFF7-D72D-909E-427BFABB408F}"/>
              </a:ext>
            </a:extLst>
          </p:cNvPr>
          <p:cNvSpPr txBox="1"/>
          <p:nvPr/>
        </p:nvSpPr>
        <p:spPr>
          <a:xfrm>
            <a:off x="3321106" y="8269581"/>
            <a:ext cx="4451293" cy="4916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779"/>
              </a:lnSpc>
              <a:spcBef>
                <a:spcPct val="0"/>
              </a:spcBef>
            </a:pPr>
            <a:r>
              <a:rPr lang="ko-KR" altLang="en-US" sz="4000">
                <a:solidFill>
                  <a:srgbClr val="19191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윤고딕 Light"/>
              </a:rPr>
              <a:t>박스오피스 순위 확인</a:t>
            </a:r>
            <a:endParaRPr lang="en-US" sz="4000" dirty="0">
              <a:solidFill>
                <a:srgbClr val="191919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  <a:sym typeface="윤고딕 Light"/>
            </a:endParaRPr>
          </a:p>
        </p:txBody>
      </p:sp>
    </p:spTree>
    <p:extLst>
      <p:ext uri="{BB962C8B-B14F-4D97-AF65-F5344CB8AC3E}">
        <p14:creationId xmlns:p14="http://schemas.microsoft.com/office/powerpoint/2010/main" val="10771555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C05FC9-1E0A-D9D0-0EA3-1934A53400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572E0826-8CDD-68CF-31E6-DBE752E8446F}"/>
              </a:ext>
            </a:extLst>
          </p:cNvPr>
          <p:cNvGrpSpPr/>
          <p:nvPr/>
        </p:nvGrpSpPr>
        <p:grpSpPr>
          <a:xfrm>
            <a:off x="-290868" y="10008764"/>
            <a:ext cx="18869735" cy="120011"/>
            <a:chOff x="0" y="0"/>
            <a:chExt cx="4969807" cy="31608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E4DDAC38-6849-098C-1FF9-239B3152A628}"/>
                </a:ext>
              </a:extLst>
            </p:cNvPr>
            <p:cNvSpPr/>
            <p:nvPr/>
          </p:nvSpPr>
          <p:spPr>
            <a:xfrm>
              <a:off x="0" y="0"/>
              <a:ext cx="4969807" cy="31608"/>
            </a:xfrm>
            <a:custGeom>
              <a:avLst/>
              <a:gdLst/>
              <a:ahLst/>
              <a:cxnLst/>
              <a:rect l="l" t="t" r="r" b="b"/>
              <a:pathLst>
                <a:path w="4969807" h="31608">
                  <a:moveTo>
                    <a:pt x="0" y="0"/>
                  </a:moveTo>
                  <a:lnTo>
                    <a:pt x="4969807" y="0"/>
                  </a:lnTo>
                  <a:lnTo>
                    <a:pt x="4969807" y="31608"/>
                  </a:lnTo>
                  <a:lnTo>
                    <a:pt x="0" y="31608"/>
                  </a:lnTo>
                  <a:close/>
                </a:path>
              </a:pathLst>
            </a:custGeom>
            <a:solidFill>
              <a:srgbClr val="191919"/>
            </a:solidFill>
            <a:ln w="19050" cap="sq">
              <a:solidFill>
                <a:srgbClr val="191919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BE9A4F0F-620F-6C2F-B4D4-0DF30F7A401A}"/>
                </a:ext>
              </a:extLst>
            </p:cNvPr>
            <p:cNvSpPr txBox="1"/>
            <p:nvPr/>
          </p:nvSpPr>
          <p:spPr>
            <a:xfrm>
              <a:off x="0" y="-47625"/>
              <a:ext cx="4969807" cy="792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TextBox 5">
            <a:extLst>
              <a:ext uri="{FF2B5EF4-FFF2-40B4-BE49-F238E27FC236}">
                <a16:creationId xmlns:a16="http://schemas.microsoft.com/office/drawing/2014/main" id="{E45D49AA-23B9-6A32-A9FF-B68536DD8EBB}"/>
              </a:ext>
            </a:extLst>
          </p:cNvPr>
          <p:cNvSpPr txBox="1"/>
          <p:nvPr/>
        </p:nvSpPr>
        <p:spPr>
          <a:xfrm>
            <a:off x="13378146" y="781050"/>
            <a:ext cx="3881154" cy="4245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639"/>
              </a:lnSpc>
              <a:spcBef>
                <a:spcPct val="0"/>
              </a:spcBef>
            </a:pPr>
            <a:r>
              <a:rPr lang="ko-KR" altLang="en-US" sz="2599" dirty="0">
                <a:solidFill>
                  <a:srgbClr val="191919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  <a:sym typeface="윤고딕"/>
              </a:rPr>
              <a:t>주요 기능</a:t>
            </a:r>
            <a:endParaRPr lang="en-US" sz="2599" dirty="0">
              <a:solidFill>
                <a:srgbClr val="191919"/>
              </a:solidFill>
              <a:latin typeface="Pretendard Medium" panose="02000503000000020004" pitchFamily="2" charset="-127"/>
              <a:ea typeface="Pretendard Medium" panose="02000503000000020004" pitchFamily="2" charset="-127"/>
              <a:cs typeface="Pretendard Medium" panose="02000503000000020004" pitchFamily="2" charset="-127"/>
              <a:sym typeface="윤고딕"/>
            </a:endParaRPr>
          </a:p>
        </p:txBody>
      </p:sp>
      <p:sp>
        <p:nvSpPr>
          <p:cNvPr id="7" name="AutoShape 7">
            <a:extLst>
              <a:ext uri="{FF2B5EF4-FFF2-40B4-BE49-F238E27FC236}">
                <a16:creationId xmlns:a16="http://schemas.microsoft.com/office/drawing/2014/main" id="{85E5C1EF-7D9D-2F90-C303-B5956D9C8DC3}"/>
              </a:ext>
            </a:extLst>
          </p:cNvPr>
          <p:cNvSpPr/>
          <p:nvPr/>
        </p:nvSpPr>
        <p:spPr>
          <a:xfrm>
            <a:off x="0" y="828675"/>
            <a:ext cx="3276389" cy="0"/>
          </a:xfrm>
          <a:prstGeom prst="line">
            <a:avLst/>
          </a:prstGeom>
          <a:ln w="38100" cap="flat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4A63311C-5EA7-348F-492F-85959D776259}"/>
              </a:ext>
            </a:extLst>
          </p:cNvPr>
          <p:cNvSpPr txBox="1"/>
          <p:nvPr/>
        </p:nvSpPr>
        <p:spPr>
          <a:xfrm>
            <a:off x="3321107" y="3013096"/>
            <a:ext cx="4024366" cy="5043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9"/>
              </a:lnSpc>
              <a:spcBef>
                <a:spcPct val="0"/>
              </a:spcBef>
            </a:pPr>
            <a:r>
              <a:rPr lang="ko-KR" altLang="en-US" sz="4000" dirty="0">
                <a:solidFill>
                  <a:srgbClr val="19191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윤고딕 Light"/>
              </a:rPr>
              <a:t>공연 검색</a:t>
            </a:r>
            <a:endParaRPr lang="en-US" sz="4000" dirty="0">
              <a:solidFill>
                <a:srgbClr val="191919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  <a:sym typeface="윤고딕 Light"/>
            </a:endParaRP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6BF93429-1711-8528-1A0E-3199B9DAE0DB}"/>
              </a:ext>
            </a:extLst>
          </p:cNvPr>
          <p:cNvSpPr txBox="1"/>
          <p:nvPr/>
        </p:nvSpPr>
        <p:spPr>
          <a:xfrm>
            <a:off x="1905000" y="1324750"/>
            <a:ext cx="1505013" cy="27822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2897"/>
              </a:lnSpc>
              <a:spcBef>
                <a:spcPct val="0"/>
              </a:spcBef>
            </a:pPr>
            <a:r>
              <a:rPr lang="en-US" sz="16355" u="none" strike="noStrike" dirty="0">
                <a:solidFill>
                  <a:srgbClr val="191919"/>
                </a:solidFill>
                <a:latin typeface="Beautifully Delicious Script"/>
                <a:ea typeface="Beautifully Delicious Script"/>
                <a:cs typeface="Beautifully Delicious Script"/>
                <a:sym typeface="Beautifully Delicious Script"/>
              </a:rPr>
              <a:t>1</a:t>
            </a:r>
          </a:p>
        </p:txBody>
      </p:sp>
      <p:sp>
        <p:nvSpPr>
          <p:cNvPr id="14" name="TextBox 11">
            <a:extLst>
              <a:ext uri="{FF2B5EF4-FFF2-40B4-BE49-F238E27FC236}">
                <a16:creationId xmlns:a16="http://schemas.microsoft.com/office/drawing/2014/main" id="{F1746BE1-C17A-D845-EEE0-56CDB0CC87FE}"/>
              </a:ext>
            </a:extLst>
          </p:cNvPr>
          <p:cNvSpPr txBox="1"/>
          <p:nvPr/>
        </p:nvSpPr>
        <p:spPr>
          <a:xfrm>
            <a:off x="1752600" y="3096500"/>
            <a:ext cx="1505013" cy="29367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2897"/>
              </a:lnSpc>
              <a:spcBef>
                <a:spcPct val="0"/>
              </a:spcBef>
            </a:pPr>
            <a:r>
              <a:rPr lang="en-US" altLang="ko-KR" sz="16355" u="none" strike="noStrike" dirty="0">
                <a:solidFill>
                  <a:srgbClr val="191919"/>
                </a:solidFill>
                <a:latin typeface="Beautifully Delicious Script"/>
                <a:ea typeface="Beautifully Delicious Script"/>
                <a:cs typeface="Beautifully Delicious Script"/>
                <a:sym typeface="Beautifully Delicious Script"/>
              </a:rPr>
              <a:t>2</a:t>
            </a:r>
            <a:endParaRPr lang="en-US" sz="16355" u="none" strike="noStrike" dirty="0">
              <a:solidFill>
                <a:srgbClr val="191919"/>
              </a:solidFill>
              <a:latin typeface="Beautifully Delicious Script"/>
              <a:ea typeface="Beautifully Delicious Script"/>
              <a:cs typeface="Beautifully Delicious Script"/>
              <a:sym typeface="Beautifully Delicious Script"/>
            </a:endParaRPr>
          </a:p>
        </p:txBody>
      </p:sp>
      <p:sp>
        <p:nvSpPr>
          <p:cNvPr id="15" name="TextBox 11">
            <a:extLst>
              <a:ext uri="{FF2B5EF4-FFF2-40B4-BE49-F238E27FC236}">
                <a16:creationId xmlns:a16="http://schemas.microsoft.com/office/drawing/2014/main" id="{72304416-C1B3-FBF6-345A-794211823366}"/>
              </a:ext>
            </a:extLst>
          </p:cNvPr>
          <p:cNvSpPr txBox="1"/>
          <p:nvPr/>
        </p:nvSpPr>
        <p:spPr>
          <a:xfrm>
            <a:off x="1752600" y="4896850"/>
            <a:ext cx="1505013" cy="29367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2897"/>
              </a:lnSpc>
              <a:spcBef>
                <a:spcPct val="0"/>
              </a:spcBef>
            </a:pPr>
            <a:r>
              <a:rPr lang="en-US" altLang="ko-KR" sz="16355" u="none" strike="noStrike" dirty="0">
                <a:solidFill>
                  <a:srgbClr val="191919"/>
                </a:solidFill>
                <a:latin typeface="Beautifully Delicious Script"/>
                <a:ea typeface="Beautifully Delicious Script"/>
                <a:cs typeface="Beautifully Delicious Script"/>
                <a:sym typeface="Beautifully Delicious Script"/>
              </a:rPr>
              <a:t>3</a:t>
            </a:r>
            <a:endParaRPr lang="en-US" sz="16355" u="none" strike="noStrike" dirty="0">
              <a:solidFill>
                <a:srgbClr val="191919"/>
              </a:solidFill>
              <a:latin typeface="Beautifully Delicious Script"/>
              <a:ea typeface="Beautifully Delicious Script"/>
              <a:cs typeface="Beautifully Delicious Script"/>
              <a:sym typeface="Beautifully Delicious Script"/>
            </a:endParaRPr>
          </a:p>
        </p:txBody>
      </p:sp>
      <p:sp>
        <p:nvSpPr>
          <p:cNvPr id="17" name="TextBox 8">
            <a:extLst>
              <a:ext uri="{FF2B5EF4-FFF2-40B4-BE49-F238E27FC236}">
                <a16:creationId xmlns:a16="http://schemas.microsoft.com/office/drawing/2014/main" id="{CE55696C-C6E7-32B0-0501-F3AAA71DF582}"/>
              </a:ext>
            </a:extLst>
          </p:cNvPr>
          <p:cNvSpPr txBox="1"/>
          <p:nvPr/>
        </p:nvSpPr>
        <p:spPr>
          <a:xfrm>
            <a:off x="3321106" y="4783363"/>
            <a:ext cx="4527493" cy="4916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779"/>
              </a:lnSpc>
              <a:spcBef>
                <a:spcPct val="0"/>
              </a:spcBef>
            </a:pPr>
            <a:r>
              <a:rPr lang="ko-KR" altLang="en-US" sz="4000" dirty="0">
                <a:solidFill>
                  <a:srgbClr val="19191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윤고딕 Light"/>
              </a:rPr>
              <a:t>지역 기반 공연 검색</a:t>
            </a:r>
            <a:endParaRPr lang="en-US" sz="4000" dirty="0">
              <a:solidFill>
                <a:srgbClr val="191919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  <a:sym typeface="윤고딕 Light"/>
            </a:endParaRPr>
          </a:p>
        </p:txBody>
      </p:sp>
      <p:sp>
        <p:nvSpPr>
          <p:cNvPr id="18" name="TextBox 8">
            <a:extLst>
              <a:ext uri="{FF2B5EF4-FFF2-40B4-BE49-F238E27FC236}">
                <a16:creationId xmlns:a16="http://schemas.microsoft.com/office/drawing/2014/main" id="{8F9AC5CC-2E2E-4660-7191-94673536573F}"/>
              </a:ext>
            </a:extLst>
          </p:cNvPr>
          <p:cNvSpPr txBox="1"/>
          <p:nvPr/>
        </p:nvSpPr>
        <p:spPr>
          <a:xfrm>
            <a:off x="3321106" y="6637979"/>
            <a:ext cx="4908493" cy="4916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779"/>
              </a:lnSpc>
              <a:spcBef>
                <a:spcPct val="0"/>
              </a:spcBef>
            </a:pPr>
            <a:r>
              <a:rPr lang="ko-KR" altLang="en-US" sz="4000">
                <a:solidFill>
                  <a:srgbClr val="19191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윤고딕 Light"/>
              </a:rPr>
              <a:t>공연 정보 </a:t>
            </a:r>
            <a:r>
              <a:rPr lang="ko-KR" altLang="en-US" sz="4000" dirty="0">
                <a:solidFill>
                  <a:srgbClr val="19191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윤고딕 Light"/>
              </a:rPr>
              <a:t>사이트 이동</a:t>
            </a:r>
            <a:endParaRPr lang="en-US" sz="4000" dirty="0">
              <a:solidFill>
                <a:srgbClr val="191919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  <a:sym typeface="윤고딕 Light"/>
            </a:endParaRPr>
          </a:p>
        </p:txBody>
      </p:sp>
      <p:sp>
        <p:nvSpPr>
          <p:cNvPr id="9" name="TextBox 6">
            <a:extLst>
              <a:ext uri="{FF2B5EF4-FFF2-40B4-BE49-F238E27FC236}">
                <a16:creationId xmlns:a16="http://schemas.microsoft.com/office/drawing/2014/main" id="{A94E91A6-0078-0B87-D332-F4BBA5A45D17}"/>
              </a:ext>
            </a:extLst>
          </p:cNvPr>
          <p:cNvSpPr txBox="1"/>
          <p:nvPr/>
        </p:nvSpPr>
        <p:spPr>
          <a:xfrm>
            <a:off x="2190814" y="944123"/>
            <a:ext cx="1161986" cy="7764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6589"/>
              </a:lnSpc>
              <a:spcBef>
                <a:spcPct val="0"/>
              </a:spcBef>
            </a:pPr>
            <a:r>
              <a:rPr lang="ko-KR" altLang="en-US" sz="4706" spc="-65" dirty="0">
                <a:solidFill>
                  <a:srgbClr val="191919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  <a:sym typeface="윤고딕"/>
              </a:rPr>
              <a:t>공연</a:t>
            </a:r>
            <a:endParaRPr lang="en-US" sz="4706" spc="-65" dirty="0">
              <a:solidFill>
                <a:srgbClr val="191919"/>
              </a:solidFill>
              <a:latin typeface="Pretendard Medium" panose="02000503000000020004" pitchFamily="2" charset="-127"/>
              <a:ea typeface="Pretendard Medium" panose="02000503000000020004" pitchFamily="2" charset="-127"/>
              <a:cs typeface="Pretendard Medium" panose="02000503000000020004" pitchFamily="2" charset="-127"/>
              <a:sym typeface="윤고딕"/>
            </a:endParaRPr>
          </a:p>
        </p:txBody>
      </p:sp>
    </p:spTree>
    <p:extLst>
      <p:ext uri="{BB962C8B-B14F-4D97-AF65-F5344CB8AC3E}">
        <p14:creationId xmlns:p14="http://schemas.microsoft.com/office/powerpoint/2010/main" val="5160014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709183" y="4654503"/>
            <a:ext cx="6869633" cy="9618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492"/>
              </a:lnSpc>
            </a:pPr>
            <a:r>
              <a:rPr lang="ko-KR" altLang="en-US" sz="6514" b="1" spc="-214" dirty="0">
                <a:solidFill>
                  <a:srgbClr val="191919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  <a:sym typeface="윤고딕 Bold"/>
              </a:rPr>
              <a:t>기술 사항</a:t>
            </a:r>
            <a:endParaRPr lang="en-US" sz="6514" b="1" spc="-214" dirty="0">
              <a:solidFill>
                <a:srgbClr val="191919"/>
              </a:solidFill>
              <a:latin typeface="Pretendard SemiBold" panose="02000503000000020004" pitchFamily="2" charset="-127"/>
              <a:ea typeface="Pretendard SemiBold" panose="02000503000000020004" pitchFamily="2" charset="-127"/>
              <a:cs typeface="Pretendard SemiBold" panose="02000503000000020004" pitchFamily="2" charset="-127"/>
              <a:sym typeface="윤고딕 Bold"/>
            </a:endParaRPr>
          </a:p>
        </p:txBody>
      </p:sp>
      <p:grpSp>
        <p:nvGrpSpPr>
          <p:cNvPr id="3" name="Group 3"/>
          <p:cNvGrpSpPr/>
          <p:nvPr/>
        </p:nvGrpSpPr>
        <p:grpSpPr>
          <a:xfrm>
            <a:off x="-290868" y="10008764"/>
            <a:ext cx="18869735" cy="120011"/>
            <a:chOff x="0" y="0"/>
            <a:chExt cx="4969807" cy="3160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969807" cy="31608"/>
            </a:xfrm>
            <a:custGeom>
              <a:avLst/>
              <a:gdLst/>
              <a:ahLst/>
              <a:cxnLst/>
              <a:rect l="l" t="t" r="r" b="b"/>
              <a:pathLst>
                <a:path w="4969807" h="31608">
                  <a:moveTo>
                    <a:pt x="0" y="0"/>
                  </a:moveTo>
                  <a:lnTo>
                    <a:pt x="4969807" y="0"/>
                  </a:lnTo>
                  <a:lnTo>
                    <a:pt x="4969807" y="31608"/>
                  </a:lnTo>
                  <a:lnTo>
                    <a:pt x="0" y="31608"/>
                  </a:lnTo>
                  <a:close/>
                </a:path>
              </a:pathLst>
            </a:custGeom>
            <a:solidFill>
              <a:srgbClr val="191919"/>
            </a:solidFill>
            <a:ln w="19050" cap="sq">
              <a:solidFill>
                <a:srgbClr val="191919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4969807" cy="792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290868" y="9717040"/>
            <a:ext cx="18869735" cy="120011"/>
            <a:chOff x="0" y="0"/>
            <a:chExt cx="4969807" cy="3160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969807" cy="31608"/>
            </a:xfrm>
            <a:custGeom>
              <a:avLst/>
              <a:gdLst/>
              <a:ahLst/>
              <a:cxnLst/>
              <a:rect l="l" t="t" r="r" b="b"/>
              <a:pathLst>
                <a:path w="4969807" h="31608">
                  <a:moveTo>
                    <a:pt x="0" y="0"/>
                  </a:moveTo>
                  <a:lnTo>
                    <a:pt x="4969807" y="0"/>
                  </a:lnTo>
                  <a:lnTo>
                    <a:pt x="4969807" y="31608"/>
                  </a:lnTo>
                  <a:lnTo>
                    <a:pt x="0" y="31608"/>
                  </a:lnTo>
                  <a:close/>
                </a:path>
              </a:pathLst>
            </a:custGeom>
            <a:solidFill>
              <a:srgbClr val="191919"/>
            </a:solidFill>
            <a:ln w="19050" cap="sq">
              <a:solidFill>
                <a:srgbClr val="191919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4969807" cy="792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90868" y="10008764"/>
            <a:ext cx="18869735" cy="120011"/>
            <a:chOff x="0" y="0"/>
            <a:chExt cx="4969807" cy="3160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969807" cy="31608"/>
            </a:xfrm>
            <a:custGeom>
              <a:avLst/>
              <a:gdLst/>
              <a:ahLst/>
              <a:cxnLst/>
              <a:rect l="l" t="t" r="r" b="b"/>
              <a:pathLst>
                <a:path w="4969807" h="31608">
                  <a:moveTo>
                    <a:pt x="0" y="0"/>
                  </a:moveTo>
                  <a:lnTo>
                    <a:pt x="4969807" y="0"/>
                  </a:lnTo>
                  <a:lnTo>
                    <a:pt x="4969807" y="31608"/>
                  </a:lnTo>
                  <a:lnTo>
                    <a:pt x="0" y="31608"/>
                  </a:lnTo>
                  <a:close/>
                </a:path>
              </a:pathLst>
            </a:custGeom>
            <a:solidFill>
              <a:srgbClr val="191919"/>
            </a:solidFill>
            <a:ln w="19050" cap="sq">
              <a:solidFill>
                <a:srgbClr val="191919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969807" cy="792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AutoShape 5"/>
          <p:cNvSpPr/>
          <p:nvPr/>
        </p:nvSpPr>
        <p:spPr>
          <a:xfrm>
            <a:off x="0" y="828675"/>
            <a:ext cx="4227313" cy="0"/>
          </a:xfrm>
          <a:prstGeom prst="line">
            <a:avLst/>
          </a:prstGeom>
          <a:ln w="38100" cap="flat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Box 6"/>
          <p:cNvSpPr txBox="1"/>
          <p:nvPr/>
        </p:nvSpPr>
        <p:spPr>
          <a:xfrm>
            <a:off x="13378146" y="781050"/>
            <a:ext cx="3881154" cy="4245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639"/>
              </a:lnSpc>
              <a:spcBef>
                <a:spcPct val="0"/>
              </a:spcBef>
            </a:pPr>
            <a:r>
              <a:rPr lang="ko-KR" altLang="en-US" sz="2599" dirty="0">
                <a:solidFill>
                  <a:srgbClr val="191919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  <a:sym typeface="윤고딕"/>
              </a:rPr>
              <a:t>기술 사항</a:t>
            </a:r>
            <a:endParaRPr lang="en-US" sz="2599" dirty="0">
              <a:solidFill>
                <a:srgbClr val="191919"/>
              </a:solidFill>
              <a:latin typeface="Pretendard Medium" panose="02000503000000020004" pitchFamily="2" charset="-127"/>
              <a:ea typeface="Pretendard Medium" panose="02000503000000020004" pitchFamily="2" charset="-127"/>
              <a:cs typeface="Pretendard Medium" panose="02000503000000020004" pitchFamily="2" charset="-127"/>
              <a:sym typeface="윤고딕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371600" y="944123"/>
            <a:ext cx="2799332" cy="7764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6589"/>
              </a:lnSpc>
              <a:spcBef>
                <a:spcPct val="0"/>
              </a:spcBef>
            </a:pPr>
            <a:r>
              <a:rPr lang="ko-KR" altLang="en-US" sz="4706" spc="-65" dirty="0" err="1">
                <a:solidFill>
                  <a:srgbClr val="191919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  <a:sym typeface="윤고딕"/>
              </a:rPr>
              <a:t>프론트엔드</a:t>
            </a:r>
            <a:endParaRPr lang="en-US" sz="4706" spc="-65" dirty="0">
              <a:solidFill>
                <a:srgbClr val="191919"/>
              </a:solidFill>
              <a:latin typeface="Pretendard Medium" panose="02000503000000020004" pitchFamily="2" charset="-127"/>
              <a:ea typeface="Pretendard Medium" panose="02000503000000020004" pitchFamily="2" charset="-127"/>
              <a:cs typeface="Pretendard Medium" panose="02000503000000020004" pitchFamily="2" charset="-127"/>
              <a:sym typeface="윤고딕"/>
            </a:endParaRPr>
          </a:p>
        </p:txBody>
      </p:sp>
      <p:sp>
        <p:nvSpPr>
          <p:cNvPr id="24" name="TextBox 8">
            <a:extLst>
              <a:ext uri="{FF2B5EF4-FFF2-40B4-BE49-F238E27FC236}">
                <a16:creationId xmlns:a16="http://schemas.microsoft.com/office/drawing/2014/main" id="{5879C6C2-6834-06E6-EE67-CB092FE20485}"/>
              </a:ext>
            </a:extLst>
          </p:cNvPr>
          <p:cNvSpPr txBox="1"/>
          <p:nvPr/>
        </p:nvSpPr>
        <p:spPr>
          <a:xfrm>
            <a:off x="13182600" y="2906694"/>
            <a:ext cx="3048000" cy="50430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779"/>
              </a:lnSpc>
              <a:spcBef>
                <a:spcPct val="0"/>
              </a:spcBef>
            </a:pPr>
            <a:r>
              <a:rPr lang="ko-KR" altLang="en-US" sz="4000" dirty="0">
                <a:solidFill>
                  <a:srgbClr val="19191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윤고딕 Light"/>
              </a:rPr>
              <a:t>로그인 </a:t>
            </a:r>
            <a:r>
              <a:rPr lang="ko-KR" altLang="en-US" sz="4000" dirty="0" err="1">
                <a:solidFill>
                  <a:srgbClr val="19191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윤고딕 Light"/>
              </a:rPr>
              <a:t>미구현</a:t>
            </a:r>
            <a:endParaRPr lang="en-US" sz="4000" dirty="0">
              <a:solidFill>
                <a:srgbClr val="191919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  <a:sym typeface="윤고딕 Light"/>
            </a:endParaRPr>
          </a:p>
        </p:txBody>
      </p:sp>
      <p:sp>
        <p:nvSpPr>
          <p:cNvPr id="26" name="TextBox 8">
            <a:extLst>
              <a:ext uri="{FF2B5EF4-FFF2-40B4-BE49-F238E27FC236}">
                <a16:creationId xmlns:a16="http://schemas.microsoft.com/office/drawing/2014/main" id="{72E8DCDF-2BE6-8B22-FBCD-A9E0E531F952}"/>
              </a:ext>
            </a:extLst>
          </p:cNvPr>
          <p:cNvSpPr txBox="1"/>
          <p:nvPr/>
        </p:nvSpPr>
        <p:spPr>
          <a:xfrm>
            <a:off x="12344400" y="6643544"/>
            <a:ext cx="4572000" cy="4916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779"/>
              </a:lnSpc>
              <a:spcBef>
                <a:spcPct val="0"/>
              </a:spcBef>
            </a:pPr>
            <a:r>
              <a:rPr lang="ko-KR" altLang="en-US" sz="4000" dirty="0">
                <a:solidFill>
                  <a:srgbClr val="19191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윤고딕 Light"/>
              </a:rPr>
              <a:t>로컬에 채팅내용 저장</a:t>
            </a:r>
            <a:endParaRPr lang="en-US" altLang="ko-KR" sz="4000" dirty="0">
              <a:solidFill>
                <a:srgbClr val="191919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  <a:sym typeface="윤고딕 Light"/>
            </a:endParaRPr>
          </a:p>
        </p:txBody>
      </p:sp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0A2FB842-0748-9C7D-87AA-E3B2DEB91343}"/>
              </a:ext>
            </a:extLst>
          </p:cNvPr>
          <p:cNvCxnSpPr/>
          <p:nvPr/>
        </p:nvCxnSpPr>
        <p:spPr>
          <a:xfrm>
            <a:off x="14630400" y="3619500"/>
            <a:ext cx="0" cy="228600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" name="그림 29" descr="텍스트, 스크린샷, 소프트웨어, 컴퓨터 아이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9AD125B-1A92-4906-662A-082BF59D58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" y="2324100"/>
            <a:ext cx="10439400" cy="6524625"/>
          </a:xfrm>
          <a:prstGeom prst="rect">
            <a:avLst/>
          </a:prstGeom>
        </p:spPr>
      </p:pic>
      <p:sp>
        <p:nvSpPr>
          <p:cNvPr id="31" name="직사각형 30">
            <a:extLst>
              <a:ext uri="{FF2B5EF4-FFF2-40B4-BE49-F238E27FC236}">
                <a16:creationId xmlns:a16="http://schemas.microsoft.com/office/drawing/2014/main" id="{B0B72BB8-A886-F0A0-2E23-21F1879BCA40}"/>
              </a:ext>
            </a:extLst>
          </p:cNvPr>
          <p:cNvSpPr/>
          <p:nvPr/>
        </p:nvSpPr>
        <p:spPr>
          <a:xfrm>
            <a:off x="1233434" y="2324100"/>
            <a:ext cx="1738366" cy="6524619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5CE31F-01F9-BD63-A183-08DBAF41E0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2834C110-8241-FC39-5D54-F71C1CC868B1}"/>
              </a:ext>
            </a:extLst>
          </p:cNvPr>
          <p:cNvGrpSpPr/>
          <p:nvPr/>
        </p:nvGrpSpPr>
        <p:grpSpPr>
          <a:xfrm>
            <a:off x="-290868" y="10008764"/>
            <a:ext cx="18869735" cy="120011"/>
            <a:chOff x="0" y="0"/>
            <a:chExt cx="4969807" cy="31608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AFDA9E62-D5EB-1126-3887-4F9C4F33456E}"/>
                </a:ext>
              </a:extLst>
            </p:cNvPr>
            <p:cNvSpPr/>
            <p:nvPr/>
          </p:nvSpPr>
          <p:spPr>
            <a:xfrm>
              <a:off x="0" y="0"/>
              <a:ext cx="4969807" cy="31608"/>
            </a:xfrm>
            <a:custGeom>
              <a:avLst/>
              <a:gdLst/>
              <a:ahLst/>
              <a:cxnLst/>
              <a:rect l="l" t="t" r="r" b="b"/>
              <a:pathLst>
                <a:path w="4969807" h="31608">
                  <a:moveTo>
                    <a:pt x="0" y="0"/>
                  </a:moveTo>
                  <a:lnTo>
                    <a:pt x="4969807" y="0"/>
                  </a:lnTo>
                  <a:lnTo>
                    <a:pt x="4969807" y="31608"/>
                  </a:lnTo>
                  <a:lnTo>
                    <a:pt x="0" y="31608"/>
                  </a:lnTo>
                  <a:close/>
                </a:path>
              </a:pathLst>
            </a:custGeom>
            <a:solidFill>
              <a:srgbClr val="191919"/>
            </a:solidFill>
            <a:ln w="19050" cap="sq">
              <a:solidFill>
                <a:srgbClr val="191919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2EECB14E-A28A-B1E5-CB11-AC95209DA06D}"/>
                </a:ext>
              </a:extLst>
            </p:cNvPr>
            <p:cNvSpPr txBox="1"/>
            <p:nvPr/>
          </p:nvSpPr>
          <p:spPr>
            <a:xfrm>
              <a:off x="0" y="-47625"/>
              <a:ext cx="4969807" cy="792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AutoShape 5">
            <a:extLst>
              <a:ext uri="{FF2B5EF4-FFF2-40B4-BE49-F238E27FC236}">
                <a16:creationId xmlns:a16="http://schemas.microsoft.com/office/drawing/2014/main" id="{2F38BB4F-3DAC-9990-30F2-29D8076EB39F}"/>
              </a:ext>
            </a:extLst>
          </p:cNvPr>
          <p:cNvSpPr/>
          <p:nvPr/>
        </p:nvSpPr>
        <p:spPr>
          <a:xfrm>
            <a:off x="0" y="828675"/>
            <a:ext cx="4227313" cy="0"/>
          </a:xfrm>
          <a:prstGeom prst="line">
            <a:avLst/>
          </a:prstGeom>
          <a:ln w="38100" cap="flat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EEAF79FD-7CB5-84D0-0968-CFE102C5EE72}"/>
              </a:ext>
            </a:extLst>
          </p:cNvPr>
          <p:cNvSpPr txBox="1"/>
          <p:nvPr/>
        </p:nvSpPr>
        <p:spPr>
          <a:xfrm>
            <a:off x="13378146" y="781050"/>
            <a:ext cx="3881154" cy="4245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639"/>
              </a:lnSpc>
              <a:spcBef>
                <a:spcPct val="0"/>
              </a:spcBef>
            </a:pPr>
            <a:r>
              <a:rPr lang="ko-KR" altLang="en-US" sz="2599" dirty="0">
                <a:solidFill>
                  <a:srgbClr val="191919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  <a:sym typeface="윤고딕"/>
              </a:rPr>
              <a:t>기술 사항</a:t>
            </a:r>
            <a:endParaRPr lang="en-US" sz="2599" dirty="0">
              <a:solidFill>
                <a:srgbClr val="191919"/>
              </a:solidFill>
              <a:latin typeface="Pretendard Medium" panose="02000503000000020004" pitchFamily="2" charset="-127"/>
              <a:ea typeface="Pretendard Medium" panose="02000503000000020004" pitchFamily="2" charset="-127"/>
              <a:cs typeface="Pretendard Medium" panose="02000503000000020004" pitchFamily="2" charset="-127"/>
              <a:sym typeface="윤고딕"/>
            </a:endParaRP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06272F78-07DB-3F61-91F7-96A345E1B2A8}"/>
              </a:ext>
            </a:extLst>
          </p:cNvPr>
          <p:cNvSpPr txBox="1"/>
          <p:nvPr/>
        </p:nvSpPr>
        <p:spPr>
          <a:xfrm>
            <a:off x="1371600" y="944123"/>
            <a:ext cx="2799332" cy="7764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6589"/>
              </a:lnSpc>
              <a:spcBef>
                <a:spcPct val="0"/>
              </a:spcBef>
            </a:pPr>
            <a:r>
              <a:rPr lang="ko-KR" altLang="en-US" sz="4706" spc="-65" dirty="0" err="1">
                <a:solidFill>
                  <a:srgbClr val="191919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  <a:sym typeface="윤고딕"/>
              </a:rPr>
              <a:t>프론트엔드</a:t>
            </a:r>
            <a:endParaRPr lang="en-US" sz="4706" spc="-65" dirty="0">
              <a:solidFill>
                <a:srgbClr val="191919"/>
              </a:solidFill>
              <a:latin typeface="Pretendard Medium" panose="02000503000000020004" pitchFamily="2" charset="-127"/>
              <a:ea typeface="Pretendard Medium" panose="02000503000000020004" pitchFamily="2" charset="-127"/>
              <a:cs typeface="Pretendard Medium" panose="02000503000000020004" pitchFamily="2" charset="-127"/>
              <a:sym typeface="윤고딕"/>
            </a:endParaRPr>
          </a:p>
        </p:txBody>
      </p:sp>
      <p:pic>
        <p:nvPicPr>
          <p:cNvPr id="8" name="그림 7" descr="텍스트, 스크린샷, 소프트웨어, 컴퓨터 아이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9E60125-653B-52D0-0475-4D11A11632C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6892"/>
          <a:stretch>
            <a:fillRect/>
          </a:stretch>
        </p:blipFill>
        <p:spPr>
          <a:xfrm>
            <a:off x="1004288" y="2324100"/>
            <a:ext cx="7498080" cy="5638800"/>
          </a:xfrm>
          <a:prstGeom prst="rect">
            <a:avLst/>
          </a:prstGeom>
        </p:spPr>
      </p:pic>
      <p:pic>
        <p:nvPicPr>
          <p:cNvPr id="12" name="그림 11" descr="텍스트, 스크린샷, 소프트웨어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6CD3B88-9FEB-F73C-A73C-4E8A259C476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6204"/>
          <a:stretch>
            <a:fillRect/>
          </a:stretch>
        </p:blipFill>
        <p:spPr>
          <a:xfrm>
            <a:off x="9785633" y="2346986"/>
            <a:ext cx="7498800" cy="5593028"/>
          </a:xfrm>
          <a:prstGeom prst="rect">
            <a:avLst/>
          </a:prstGeom>
        </p:spPr>
      </p:pic>
      <p:sp>
        <p:nvSpPr>
          <p:cNvPr id="13" name="TextBox 8">
            <a:extLst>
              <a:ext uri="{FF2B5EF4-FFF2-40B4-BE49-F238E27FC236}">
                <a16:creationId xmlns:a16="http://schemas.microsoft.com/office/drawing/2014/main" id="{A03F53A3-D290-348C-C823-1FD37F64DB05}"/>
              </a:ext>
            </a:extLst>
          </p:cNvPr>
          <p:cNvSpPr txBox="1"/>
          <p:nvPr/>
        </p:nvSpPr>
        <p:spPr>
          <a:xfrm>
            <a:off x="4276184" y="8391114"/>
            <a:ext cx="954287" cy="50430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779"/>
              </a:lnSpc>
              <a:spcBef>
                <a:spcPct val="0"/>
              </a:spcBef>
            </a:pPr>
            <a:r>
              <a:rPr lang="ko-KR" altLang="en-US" sz="4000" dirty="0">
                <a:solidFill>
                  <a:srgbClr val="19191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윤고딕 Light"/>
              </a:rPr>
              <a:t>영화</a:t>
            </a:r>
            <a:endParaRPr lang="en-US" sz="4000" dirty="0">
              <a:solidFill>
                <a:srgbClr val="191919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  <a:sym typeface="윤고딕 Light"/>
            </a:endParaRPr>
          </a:p>
        </p:txBody>
      </p:sp>
      <p:sp>
        <p:nvSpPr>
          <p:cNvPr id="14" name="TextBox 8">
            <a:extLst>
              <a:ext uri="{FF2B5EF4-FFF2-40B4-BE49-F238E27FC236}">
                <a16:creationId xmlns:a16="http://schemas.microsoft.com/office/drawing/2014/main" id="{C2C3A047-7A0B-DD71-7941-DB1A31B1528D}"/>
              </a:ext>
            </a:extLst>
          </p:cNvPr>
          <p:cNvSpPr txBox="1"/>
          <p:nvPr/>
        </p:nvSpPr>
        <p:spPr>
          <a:xfrm>
            <a:off x="12901002" y="8391114"/>
            <a:ext cx="954287" cy="50430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779"/>
              </a:lnSpc>
              <a:spcBef>
                <a:spcPct val="0"/>
              </a:spcBef>
            </a:pPr>
            <a:r>
              <a:rPr lang="ko-KR" altLang="en-US" sz="4000" dirty="0">
                <a:solidFill>
                  <a:srgbClr val="19191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윤고딕 Light"/>
              </a:rPr>
              <a:t>공연</a:t>
            </a:r>
            <a:endParaRPr lang="en-US" sz="4000" dirty="0">
              <a:solidFill>
                <a:srgbClr val="191919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  <a:sym typeface="윤고딕 Light"/>
            </a:endParaRPr>
          </a:p>
        </p:txBody>
      </p:sp>
    </p:spTree>
    <p:extLst>
      <p:ext uri="{BB962C8B-B14F-4D97-AF65-F5344CB8AC3E}">
        <p14:creationId xmlns:p14="http://schemas.microsoft.com/office/powerpoint/2010/main" val="36404044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0A6332-2716-5D05-8C8D-1E96891151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D6A4BC6F-16C1-2EDD-865B-6095D47D5D15}"/>
              </a:ext>
            </a:extLst>
          </p:cNvPr>
          <p:cNvGrpSpPr/>
          <p:nvPr/>
        </p:nvGrpSpPr>
        <p:grpSpPr>
          <a:xfrm>
            <a:off x="-290868" y="10008764"/>
            <a:ext cx="18869735" cy="120011"/>
            <a:chOff x="0" y="0"/>
            <a:chExt cx="4969807" cy="31608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D6CB33D3-D254-F966-A0C6-FA975A4F4520}"/>
                </a:ext>
              </a:extLst>
            </p:cNvPr>
            <p:cNvSpPr/>
            <p:nvPr/>
          </p:nvSpPr>
          <p:spPr>
            <a:xfrm>
              <a:off x="0" y="0"/>
              <a:ext cx="4969807" cy="31608"/>
            </a:xfrm>
            <a:custGeom>
              <a:avLst/>
              <a:gdLst/>
              <a:ahLst/>
              <a:cxnLst/>
              <a:rect l="l" t="t" r="r" b="b"/>
              <a:pathLst>
                <a:path w="4969807" h="31608">
                  <a:moveTo>
                    <a:pt x="0" y="0"/>
                  </a:moveTo>
                  <a:lnTo>
                    <a:pt x="4969807" y="0"/>
                  </a:lnTo>
                  <a:lnTo>
                    <a:pt x="4969807" y="31608"/>
                  </a:lnTo>
                  <a:lnTo>
                    <a:pt x="0" y="31608"/>
                  </a:lnTo>
                  <a:close/>
                </a:path>
              </a:pathLst>
            </a:custGeom>
            <a:solidFill>
              <a:srgbClr val="191919"/>
            </a:solidFill>
            <a:ln w="19050" cap="sq">
              <a:solidFill>
                <a:srgbClr val="191919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81CA370D-72A4-56EB-58F2-7963487E31BE}"/>
                </a:ext>
              </a:extLst>
            </p:cNvPr>
            <p:cNvSpPr txBox="1"/>
            <p:nvPr/>
          </p:nvSpPr>
          <p:spPr>
            <a:xfrm>
              <a:off x="0" y="-47625"/>
              <a:ext cx="4969807" cy="792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AutoShape 5">
            <a:extLst>
              <a:ext uri="{FF2B5EF4-FFF2-40B4-BE49-F238E27FC236}">
                <a16:creationId xmlns:a16="http://schemas.microsoft.com/office/drawing/2014/main" id="{5322952E-B2E4-F609-D74F-A4040C5C48A0}"/>
              </a:ext>
            </a:extLst>
          </p:cNvPr>
          <p:cNvSpPr/>
          <p:nvPr/>
        </p:nvSpPr>
        <p:spPr>
          <a:xfrm>
            <a:off x="0" y="828675"/>
            <a:ext cx="4227313" cy="0"/>
          </a:xfrm>
          <a:prstGeom prst="line">
            <a:avLst/>
          </a:prstGeom>
          <a:ln w="38100" cap="flat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F4AFAA41-3841-6606-A94B-82560C5EE100}"/>
              </a:ext>
            </a:extLst>
          </p:cNvPr>
          <p:cNvSpPr txBox="1"/>
          <p:nvPr/>
        </p:nvSpPr>
        <p:spPr>
          <a:xfrm>
            <a:off x="13378146" y="781050"/>
            <a:ext cx="3881154" cy="4245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639"/>
              </a:lnSpc>
              <a:spcBef>
                <a:spcPct val="0"/>
              </a:spcBef>
            </a:pPr>
            <a:r>
              <a:rPr lang="ko-KR" altLang="en-US" sz="2599" dirty="0">
                <a:solidFill>
                  <a:srgbClr val="191919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  <a:sym typeface="윤고딕"/>
              </a:rPr>
              <a:t>기술 사항</a:t>
            </a:r>
            <a:endParaRPr lang="en-US" sz="2599" dirty="0">
              <a:solidFill>
                <a:srgbClr val="191919"/>
              </a:solidFill>
              <a:latin typeface="Pretendard Medium" panose="02000503000000020004" pitchFamily="2" charset="-127"/>
              <a:ea typeface="Pretendard Medium" panose="02000503000000020004" pitchFamily="2" charset="-127"/>
              <a:cs typeface="Pretendard Medium" panose="02000503000000020004" pitchFamily="2" charset="-127"/>
              <a:sym typeface="윤고딕"/>
            </a:endParaRP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9251D45D-7C2E-A277-EA06-90D27B28494E}"/>
              </a:ext>
            </a:extLst>
          </p:cNvPr>
          <p:cNvSpPr txBox="1"/>
          <p:nvPr/>
        </p:nvSpPr>
        <p:spPr>
          <a:xfrm>
            <a:off x="1371600" y="944123"/>
            <a:ext cx="2799332" cy="7764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6589"/>
              </a:lnSpc>
              <a:spcBef>
                <a:spcPct val="0"/>
              </a:spcBef>
            </a:pPr>
            <a:r>
              <a:rPr lang="ko-KR" altLang="en-US" sz="4706" spc="-65" dirty="0" err="1">
                <a:solidFill>
                  <a:srgbClr val="191919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  <a:sym typeface="윤고딕"/>
              </a:rPr>
              <a:t>프론트엔드</a:t>
            </a:r>
            <a:endParaRPr lang="en-US" sz="4706" spc="-65" dirty="0">
              <a:solidFill>
                <a:srgbClr val="191919"/>
              </a:solidFill>
              <a:latin typeface="Pretendard Medium" panose="02000503000000020004" pitchFamily="2" charset="-127"/>
              <a:ea typeface="Pretendard Medium" panose="02000503000000020004" pitchFamily="2" charset="-127"/>
              <a:cs typeface="Pretendard Medium" panose="02000503000000020004" pitchFamily="2" charset="-127"/>
              <a:sym typeface="윤고딕"/>
            </a:endParaRPr>
          </a:p>
        </p:txBody>
      </p:sp>
      <p:pic>
        <p:nvPicPr>
          <p:cNvPr id="11" name="그림 10" descr="텍스트, 스크린샷, 소프트웨어, 컴퓨터 아이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6945F6E-ECA1-9E84-FF52-F6A68143BA4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3463"/>
          <a:stretch>
            <a:fillRect/>
          </a:stretch>
        </p:blipFill>
        <p:spPr>
          <a:xfrm>
            <a:off x="2857031" y="2004892"/>
            <a:ext cx="1921102" cy="7260685"/>
          </a:xfrm>
          <a:prstGeom prst="rect">
            <a:avLst/>
          </a:prstGeom>
        </p:spPr>
      </p:pic>
      <p:pic>
        <p:nvPicPr>
          <p:cNvPr id="13" name="그림 12" descr="텍스트, 스크린샷, 소프트웨어, 웹사이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6E5365B-C852-AF78-6257-AE85A98EC1D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83796"/>
          <a:stretch>
            <a:fillRect/>
          </a:stretch>
        </p:blipFill>
        <p:spPr>
          <a:xfrm>
            <a:off x="6477000" y="2008949"/>
            <a:ext cx="1882533" cy="7261200"/>
          </a:xfrm>
          <a:prstGeom prst="rect">
            <a:avLst/>
          </a:prstGeom>
        </p:spPr>
      </p:pic>
      <p:pic>
        <p:nvPicPr>
          <p:cNvPr id="15" name="그림 14" descr="텍스트, 스크린샷, 소프트웨어, 웹사이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3888241-1C15-5ED3-59E5-A8E473AA8E9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83796"/>
          <a:stretch>
            <a:fillRect/>
          </a:stretch>
        </p:blipFill>
        <p:spPr>
          <a:xfrm>
            <a:off x="10058400" y="2004377"/>
            <a:ext cx="1882533" cy="7261200"/>
          </a:xfrm>
          <a:prstGeom prst="rect">
            <a:avLst/>
          </a:prstGeom>
        </p:spPr>
      </p:pic>
      <p:pic>
        <p:nvPicPr>
          <p:cNvPr id="17" name="그림 16" descr="텍스트, 스크린샷, 인간의 얼굴, 웹사이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F5AF72C-2E8C-0A61-065A-62EF07E26B6A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83796"/>
          <a:stretch>
            <a:fillRect/>
          </a:stretch>
        </p:blipFill>
        <p:spPr>
          <a:xfrm>
            <a:off x="13639800" y="2004377"/>
            <a:ext cx="1882533" cy="726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94659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0B552C-4CD0-0735-3705-F824C37F48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B2C4E941-5AEF-0FAB-103A-19DE187E4C41}"/>
              </a:ext>
            </a:extLst>
          </p:cNvPr>
          <p:cNvGrpSpPr/>
          <p:nvPr/>
        </p:nvGrpSpPr>
        <p:grpSpPr>
          <a:xfrm>
            <a:off x="-290868" y="10008764"/>
            <a:ext cx="18869735" cy="120011"/>
            <a:chOff x="0" y="0"/>
            <a:chExt cx="4969807" cy="31608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C725C00D-B5C6-770C-078B-043A45B4FC28}"/>
                </a:ext>
              </a:extLst>
            </p:cNvPr>
            <p:cNvSpPr/>
            <p:nvPr/>
          </p:nvSpPr>
          <p:spPr>
            <a:xfrm>
              <a:off x="0" y="0"/>
              <a:ext cx="4969807" cy="31608"/>
            </a:xfrm>
            <a:custGeom>
              <a:avLst/>
              <a:gdLst/>
              <a:ahLst/>
              <a:cxnLst/>
              <a:rect l="l" t="t" r="r" b="b"/>
              <a:pathLst>
                <a:path w="4969807" h="31608">
                  <a:moveTo>
                    <a:pt x="0" y="0"/>
                  </a:moveTo>
                  <a:lnTo>
                    <a:pt x="4969807" y="0"/>
                  </a:lnTo>
                  <a:lnTo>
                    <a:pt x="4969807" y="31608"/>
                  </a:lnTo>
                  <a:lnTo>
                    <a:pt x="0" y="31608"/>
                  </a:lnTo>
                  <a:close/>
                </a:path>
              </a:pathLst>
            </a:custGeom>
            <a:solidFill>
              <a:srgbClr val="191919"/>
            </a:solidFill>
            <a:ln w="19050" cap="sq">
              <a:solidFill>
                <a:srgbClr val="191919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2504DF6-5BE1-5F51-4B9F-283C2A5B050D}"/>
                </a:ext>
              </a:extLst>
            </p:cNvPr>
            <p:cNvSpPr txBox="1"/>
            <p:nvPr/>
          </p:nvSpPr>
          <p:spPr>
            <a:xfrm>
              <a:off x="0" y="-47625"/>
              <a:ext cx="4969807" cy="792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AutoShape 5">
            <a:extLst>
              <a:ext uri="{FF2B5EF4-FFF2-40B4-BE49-F238E27FC236}">
                <a16:creationId xmlns:a16="http://schemas.microsoft.com/office/drawing/2014/main" id="{79A4F2FF-F3A8-4A28-2205-6C8FCF5A79D4}"/>
              </a:ext>
            </a:extLst>
          </p:cNvPr>
          <p:cNvSpPr/>
          <p:nvPr/>
        </p:nvSpPr>
        <p:spPr>
          <a:xfrm>
            <a:off x="0" y="828675"/>
            <a:ext cx="4227313" cy="0"/>
          </a:xfrm>
          <a:prstGeom prst="line">
            <a:avLst/>
          </a:prstGeom>
          <a:ln w="38100" cap="flat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C475258A-0156-C713-4B80-E08F0823B4A9}"/>
              </a:ext>
            </a:extLst>
          </p:cNvPr>
          <p:cNvSpPr txBox="1"/>
          <p:nvPr/>
        </p:nvSpPr>
        <p:spPr>
          <a:xfrm>
            <a:off x="13378146" y="781050"/>
            <a:ext cx="3881154" cy="4245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639"/>
              </a:lnSpc>
              <a:spcBef>
                <a:spcPct val="0"/>
              </a:spcBef>
            </a:pPr>
            <a:r>
              <a:rPr lang="ko-KR" altLang="en-US" sz="2599" dirty="0">
                <a:solidFill>
                  <a:srgbClr val="191919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  <a:sym typeface="윤고딕"/>
              </a:rPr>
              <a:t>기술 사항</a:t>
            </a:r>
            <a:endParaRPr lang="en-US" sz="2599" dirty="0">
              <a:solidFill>
                <a:srgbClr val="191919"/>
              </a:solidFill>
              <a:latin typeface="Pretendard Medium" panose="02000503000000020004" pitchFamily="2" charset="-127"/>
              <a:ea typeface="Pretendard Medium" panose="02000503000000020004" pitchFamily="2" charset="-127"/>
              <a:cs typeface="Pretendard Medium" panose="02000503000000020004" pitchFamily="2" charset="-127"/>
              <a:sym typeface="윤고딕"/>
            </a:endParaRP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D069299B-6F8F-E880-4F13-0089246AC50F}"/>
              </a:ext>
            </a:extLst>
          </p:cNvPr>
          <p:cNvSpPr txBox="1"/>
          <p:nvPr/>
        </p:nvSpPr>
        <p:spPr>
          <a:xfrm>
            <a:off x="1371600" y="944123"/>
            <a:ext cx="2799332" cy="7764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6589"/>
              </a:lnSpc>
              <a:spcBef>
                <a:spcPct val="0"/>
              </a:spcBef>
            </a:pPr>
            <a:r>
              <a:rPr lang="ko-KR" altLang="en-US" sz="4706" spc="-65" dirty="0" err="1">
                <a:solidFill>
                  <a:srgbClr val="191919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  <a:sym typeface="윤고딕"/>
              </a:rPr>
              <a:t>백엔드</a:t>
            </a:r>
            <a:endParaRPr lang="en-US" sz="4706" spc="-65" dirty="0">
              <a:solidFill>
                <a:srgbClr val="191919"/>
              </a:solidFill>
              <a:latin typeface="Pretendard Medium" panose="02000503000000020004" pitchFamily="2" charset="-127"/>
              <a:ea typeface="Pretendard Medium" panose="02000503000000020004" pitchFamily="2" charset="-127"/>
              <a:cs typeface="Pretendard Medium" panose="02000503000000020004" pitchFamily="2" charset="-127"/>
              <a:sym typeface="윤고딕"/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86280160-F852-BA00-5633-C27AC2117C2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38332" y="2200900"/>
            <a:ext cx="10411334" cy="6956827"/>
          </a:xfrm>
          <a:prstGeom prst="rect">
            <a:avLst/>
          </a:prstGeom>
        </p:spPr>
      </p:pic>
      <p:sp>
        <p:nvSpPr>
          <p:cNvPr id="14" name="TextBox 8">
            <a:extLst>
              <a:ext uri="{FF2B5EF4-FFF2-40B4-BE49-F238E27FC236}">
                <a16:creationId xmlns:a16="http://schemas.microsoft.com/office/drawing/2014/main" id="{62A24522-E536-152E-C2F9-B4DABFB6526F}"/>
              </a:ext>
            </a:extLst>
          </p:cNvPr>
          <p:cNvSpPr txBox="1"/>
          <p:nvPr/>
        </p:nvSpPr>
        <p:spPr>
          <a:xfrm>
            <a:off x="8666855" y="9240680"/>
            <a:ext cx="954287" cy="50430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779"/>
              </a:lnSpc>
              <a:spcBef>
                <a:spcPct val="0"/>
              </a:spcBef>
            </a:pPr>
            <a:r>
              <a:rPr lang="ko-KR" altLang="en-US" sz="4000" dirty="0">
                <a:solidFill>
                  <a:srgbClr val="19191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윤고딕 Light"/>
              </a:rPr>
              <a:t>영화</a:t>
            </a:r>
            <a:endParaRPr lang="en-US" sz="4000" dirty="0">
              <a:solidFill>
                <a:srgbClr val="191919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  <a:sym typeface="윤고딕 Light"/>
            </a:endParaRPr>
          </a:p>
        </p:txBody>
      </p:sp>
    </p:spTree>
    <p:extLst>
      <p:ext uri="{BB962C8B-B14F-4D97-AF65-F5344CB8AC3E}">
        <p14:creationId xmlns:p14="http://schemas.microsoft.com/office/powerpoint/2010/main" val="34283966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16D1F4-8D12-0CA8-7EB9-AF4FF3C9D9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B0287B23-2DBA-9BB7-65E5-58FD4919C400}"/>
              </a:ext>
            </a:extLst>
          </p:cNvPr>
          <p:cNvGrpSpPr/>
          <p:nvPr/>
        </p:nvGrpSpPr>
        <p:grpSpPr>
          <a:xfrm>
            <a:off x="-290868" y="10008764"/>
            <a:ext cx="18869735" cy="120011"/>
            <a:chOff x="0" y="0"/>
            <a:chExt cx="4969807" cy="31608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D979D159-49EE-1701-F1C9-539A046B9076}"/>
                </a:ext>
              </a:extLst>
            </p:cNvPr>
            <p:cNvSpPr/>
            <p:nvPr/>
          </p:nvSpPr>
          <p:spPr>
            <a:xfrm>
              <a:off x="0" y="0"/>
              <a:ext cx="4969807" cy="31608"/>
            </a:xfrm>
            <a:custGeom>
              <a:avLst/>
              <a:gdLst/>
              <a:ahLst/>
              <a:cxnLst/>
              <a:rect l="l" t="t" r="r" b="b"/>
              <a:pathLst>
                <a:path w="4969807" h="31608">
                  <a:moveTo>
                    <a:pt x="0" y="0"/>
                  </a:moveTo>
                  <a:lnTo>
                    <a:pt x="4969807" y="0"/>
                  </a:lnTo>
                  <a:lnTo>
                    <a:pt x="4969807" y="31608"/>
                  </a:lnTo>
                  <a:lnTo>
                    <a:pt x="0" y="31608"/>
                  </a:lnTo>
                  <a:close/>
                </a:path>
              </a:pathLst>
            </a:custGeom>
            <a:solidFill>
              <a:srgbClr val="191919"/>
            </a:solidFill>
            <a:ln w="19050" cap="sq">
              <a:solidFill>
                <a:srgbClr val="191919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257D6E0D-896D-6903-3C56-DB0903FA0B89}"/>
                </a:ext>
              </a:extLst>
            </p:cNvPr>
            <p:cNvSpPr txBox="1"/>
            <p:nvPr/>
          </p:nvSpPr>
          <p:spPr>
            <a:xfrm>
              <a:off x="0" y="-47625"/>
              <a:ext cx="4969807" cy="792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AutoShape 5">
            <a:extLst>
              <a:ext uri="{FF2B5EF4-FFF2-40B4-BE49-F238E27FC236}">
                <a16:creationId xmlns:a16="http://schemas.microsoft.com/office/drawing/2014/main" id="{61AA1D2A-A3E6-E81E-7EBE-9C64FCA31574}"/>
              </a:ext>
            </a:extLst>
          </p:cNvPr>
          <p:cNvSpPr/>
          <p:nvPr/>
        </p:nvSpPr>
        <p:spPr>
          <a:xfrm>
            <a:off x="0" y="828675"/>
            <a:ext cx="4227313" cy="0"/>
          </a:xfrm>
          <a:prstGeom prst="line">
            <a:avLst/>
          </a:prstGeom>
          <a:ln w="38100" cap="flat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3DF6CDE3-5D1D-C212-8632-9C09CC639A6C}"/>
              </a:ext>
            </a:extLst>
          </p:cNvPr>
          <p:cNvSpPr txBox="1"/>
          <p:nvPr/>
        </p:nvSpPr>
        <p:spPr>
          <a:xfrm>
            <a:off x="13378146" y="781050"/>
            <a:ext cx="3881154" cy="4245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639"/>
              </a:lnSpc>
              <a:spcBef>
                <a:spcPct val="0"/>
              </a:spcBef>
            </a:pPr>
            <a:r>
              <a:rPr lang="ko-KR" altLang="en-US" sz="2599" dirty="0">
                <a:solidFill>
                  <a:srgbClr val="191919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  <a:sym typeface="윤고딕"/>
              </a:rPr>
              <a:t>기술 사항</a:t>
            </a:r>
            <a:endParaRPr lang="en-US" sz="2599" dirty="0">
              <a:solidFill>
                <a:srgbClr val="191919"/>
              </a:solidFill>
              <a:latin typeface="Pretendard Medium" panose="02000503000000020004" pitchFamily="2" charset="-127"/>
              <a:ea typeface="Pretendard Medium" panose="02000503000000020004" pitchFamily="2" charset="-127"/>
              <a:cs typeface="Pretendard Medium" panose="02000503000000020004" pitchFamily="2" charset="-127"/>
              <a:sym typeface="윤고딕"/>
            </a:endParaRP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637B5994-F0D6-5E85-D7B0-62E905EE22C6}"/>
              </a:ext>
            </a:extLst>
          </p:cNvPr>
          <p:cNvSpPr txBox="1"/>
          <p:nvPr/>
        </p:nvSpPr>
        <p:spPr>
          <a:xfrm>
            <a:off x="1371600" y="944123"/>
            <a:ext cx="2799332" cy="7764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6589"/>
              </a:lnSpc>
              <a:spcBef>
                <a:spcPct val="0"/>
              </a:spcBef>
            </a:pPr>
            <a:r>
              <a:rPr lang="ko-KR" altLang="en-US" sz="4706" spc="-65" dirty="0" err="1">
                <a:solidFill>
                  <a:srgbClr val="191919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  <a:sym typeface="윤고딕"/>
              </a:rPr>
              <a:t>백엔드</a:t>
            </a:r>
            <a:endParaRPr lang="en-US" sz="4706" spc="-65" dirty="0">
              <a:solidFill>
                <a:srgbClr val="191919"/>
              </a:solidFill>
              <a:latin typeface="Pretendard Medium" panose="02000503000000020004" pitchFamily="2" charset="-127"/>
              <a:ea typeface="Pretendard Medium" panose="02000503000000020004" pitchFamily="2" charset="-127"/>
              <a:cs typeface="Pretendard Medium" panose="02000503000000020004" pitchFamily="2" charset="-127"/>
              <a:sym typeface="윤고딕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59B4A3E7-D33B-58CA-085C-8DB72071CE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4299" y="2381715"/>
            <a:ext cx="10439400" cy="6554282"/>
          </a:xfrm>
          <a:prstGeom prst="rect">
            <a:avLst/>
          </a:prstGeom>
        </p:spPr>
      </p:pic>
      <p:sp>
        <p:nvSpPr>
          <p:cNvPr id="10" name="TextBox 8">
            <a:extLst>
              <a:ext uri="{FF2B5EF4-FFF2-40B4-BE49-F238E27FC236}">
                <a16:creationId xmlns:a16="http://schemas.microsoft.com/office/drawing/2014/main" id="{D8A32E8A-80B6-21EE-C0EF-3DEC34E4215F}"/>
              </a:ext>
            </a:extLst>
          </p:cNvPr>
          <p:cNvSpPr txBox="1"/>
          <p:nvPr/>
        </p:nvSpPr>
        <p:spPr>
          <a:xfrm>
            <a:off x="8666855" y="9233221"/>
            <a:ext cx="954287" cy="50430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779"/>
              </a:lnSpc>
              <a:spcBef>
                <a:spcPct val="0"/>
              </a:spcBef>
            </a:pPr>
            <a:r>
              <a:rPr lang="ko-KR" altLang="en-US" sz="4000" dirty="0">
                <a:solidFill>
                  <a:srgbClr val="19191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윤고딕 Light"/>
              </a:rPr>
              <a:t>공연</a:t>
            </a:r>
            <a:endParaRPr lang="en-US" sz="4000" dirty="0">
              <a:solidFill>
                <a:srgbClr val="191919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  <a:sym typeface="윤고딕 Light"/>
            </a:endParaRPr>
          </a:p>
        </p:txBody>
      </p:sp>
    </p:spTree>
    <p:extLst>
      <p:ext uri="{BB962C8B-B14F-4D97-AF65-F5344CB8AC3E}">
        <p14:creationId xmlns:p14="http://schemas.microsoft.com/office/powerpoint/2010/main" val="11746579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5FDE81-67BF-32C4-5F7F-624F28A3F0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950D88B2-4FFF-0C7C-7E6E-6973009E7760}"/>
              </a:ext>
            </a:extLst>
          </p:cNvPr>
          <p:cNvGrpSpPr/>
          <p:nvPr/>
        </p:nvGrpSpPr>
        <p:grpSpPr>
          <a:xfrm>
            <a:off x="-290868" y="10008764"/>
            <a:ext cx="18869735" cy="120011"/>
            <a:chOff x="0" y="0"/>
            <a:chExt cx="4969807" cy="31608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ACB1F547-1480-B3A1-29E0-482FB7AA9179}"/>
                </a:ext>
              </a:extLst>
            </p:cNvPr>
            <p:cNvSpPr/>
            <p:nvPr/>
          </p:nvSpPr>
          <p:spPr>
            <a:xfrm>
              <a:off x="0" y="0"/>
              <a:ext cx="4969807" cy="31608"/>
            </a:xfrm>
            <a:custGeom>
              <a:avLst/>
              <a:gdLst/>
              <a:ahLst/>
              <a:cxnLst/>
              <a:rect l="l" t="t" r="r" b="b"/>
              <a:pathLst>
                <a:path w="4969807" h="31608">
                  <a:moveTo>
                    <a:pt x="0" y="0"/>
                  </a:moveTo>
                  <a:lnTo>
                    <a:pt x="4969807" y="0"/>
                  </a:lnTo>
                  <a:lnTo>
                    <a:pt x="4969807" y="31608"/>
                  </a:lnTo>
                  <a:lnTo>
                    <a:pt x="0" y="31608"/>
                  </a:lnTo>
                  <a:close/>
                </a:path>
              </a:pathLst>
            </a:custGeom>
            <a:solidFill>
              <a:srgbClr val="191919"/>
            </a:solidFill>
            <a:ln w="19050" cap="sq">
              <a:solidFill>
                <a:srgbClr val="191919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353C9E26-407B-D771-9658-397377119821}"/>
                </a:ext>
              </a:extLst>
            </p:cNvPr>
            <p:cNvSpPr txBox="1"/>
            <p:nvPr/>
          </p:nvSpPr>
          <p:spPr>
            <a:xfrm>
              <a:off x="0" y="-47625"/>
              <a:ext cx="4969807" cy="792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AutoShape 5">
            <a:extLst>
              <a:ext uri="{FF2B5EF4-FFF2-40B4-BE49-F238E27FC236}">
                <a16:creationId xmlns:a16="http://schemas.microsoft.com/office/drawing/2014/main" id="{7E552444-B9E5-2166-3429-702329457B71}"/>
              </a:ext>
            </a:extLst>
          </p:cNvPr>
          <p:cNvSpPr/>
          <p:nvPr/>
        </p:nvSpPr>
        <p:spPr>
          <a:xfrm>
            <a:off x="0" y="828675"/>
            <a:ext cx="4227313" cy="0"/>
          </a:xfrm>
          <a:prstGeom prst="line">
            <a:avLst/>
          </a:prstGeom>
          <a:ln w="38100" cap="flat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A2C634CF-F73B-197D-BEEA-BA83CADDC093}"/>
              </a:ext>
            </a:extLst>
          </p:cNvPr>
          <p:cNvSpPr txBox="1"/>
          <p:nvPr/>
        </p:nvSpPr>
        <p:spPr>
          <a:xfrm>
            <a:off x="13378146" y="781050"/>
            <a:ext cx="3881154" cy="4245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639"/>
              </a:lnSpc>
              <a:spcBef>
                <a:spcPct val="0"/>
              </a:spcBef>
            </a:pPr>
            <a:r>
              <a:rPr lang="ko-KR" altLang="en-US" sz="2599" dirty="0">
                <a:solidFill>
                  <a:srgbClr val="191919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  <a:sym typeface="윤고딕"/>
              </a:rPr>
              <a:t>기술 사항</a:t>
            </a:r>
            <a:endParaRPr lang="en-US" sz="2599" dirty="0">
              <a:solidFill>
                <a:srgbClr val="191919"/>
              </a:solidFill>
              <a:latin typeface="Pretendard Medium" panose="02000503000000020004" pitchFamily="2" charset="-127"/>
              <a:ea typeface="Pretendard Medium" panose="02000503000000020004" pitchFamily="2" charset="-127"/>
              <a:cs typeface="Pretendard Medium" panose="02000503000000020004" pitchFamily="2" charset="-127"/>
              <a:sym typeface="윤고딕"/>
            </a:endParaRP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3E00F54E-EB3B-2B20-286A-FEF257E24903}"/>
              </a:ext>
            </a:extLst>
          </p:cNvPr>
          <p:cNvSpPr txBox="1"/>
          <p:nvPr/>
        </p:nvSpPr>
        <p:spPr>
          <a:xfrm>
            <a:off x="914400" y="944123"/>
            <a:ext cx="3256532" cy="7764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6589"/>
              </a:lnSpc>
              <a:spcBef>
                <a:spcPct val="0"/>
              </a:spcBef>
            </a:pPr>
            <a:r>
              <a:rPr lang="ko-KR" altLang="en-US" sz="4706" spc="-65" dirty="0">
                <a:solidFill>
                  <a:srgbClr val="191919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  <a:sym typeface="윤고딕"/>
              </a:rPr>
              <a:t>데이터베이스</a:t>
            </a:r>
            <a:endParaRPr lang="en-US" sz="4706" spc="-65" dirty="0">
              <a:solidFill>
                <a:srgbClr val="191919"/>
              </a:solidFill>
              <a:latin typeface="Pretendard Medium" panose="02000503000000020004" pitchFamily="2" charset="-127"/>
              <a:ea typeface="Pretendard Medium" panose="02000503000000020004" pitchFamily="2" charset="-127"/>
              <a:cs typeface="Pretendard Medium" panose="02000503000000020004" pitchFamily="2" charset="-127"/>
              <a:sym typeface="윤고딕"/>
            </a:endParaRPr>
          </a:p>
        </p:txBody>
      </p:sp>
      <p:sp>
        <p:nvSpPr>
          <p:cNvPr id="16" name="TextBox 8">
            <a:extLst>
              <a:ext uri="{FF2B5EF4-FFF2-40B4-BE49-F238E27FC236}">
                <a16:creationId xmlns:a16="http://schemas.microsoft.com/office/drawing/2014/main" id="{36165A83-A6FB-28D7-0C45-3F903BF52482}"/>
              </a:ext>
            </a:extLst>
          </p:cNvPr>
          <p:cNvSpPr txBox="1"/>
          <p:nvPr/>
        </p:nvSpPr>
        <p:spPr>
          <a:xfrm>
            <a:off x="10591800" y="2558319"/>
            <a:ext cx="3962400" cy="18466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altLang="ko-KR" sz="4000" dirty="0">
                <a:solidFill>
                  <a:srgbClr val="19191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윤고딕 Light"/>
              </a:rPr>
              <a:t>TMDB</a:t>
            </a:r>
            <a:r>
              <a:rPr lang="ko-KR" altLang="en-US" sz="4000" dirty="0">
                <a:solidFill>
                  <a:srgbClr val="19191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윤고딕 Light"/>
              </a:rPr>
              <a:t>의 데이터로 기본적인 분석용 데이터 가공</a:t>
            </a:r>
            <a:endParaRPr lang="en-US" altLang="ko-KR" sz="4000" dirty="0">
              <a:solidFill>
                <a:srgbClr val="191919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  <a:sym typeface="윤고딕 Light"/>
            </a:endParaRPr>
          </a:p>
        </p:txBody>
      </p: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591CD9F6-24D3-C94F-0675-C34A7433EEE5}"/>
              </a:ext>
            </a:extLst>
          </p:cNvPr>
          <p:cNvCxnSpPr>
            <a:cxnSpLocks/>
          </p:cNvCxnSpPr>
          <p:nvPr/>
        </p:nvCxnSpPr>
        <p:spPr>
          <a:xfrm>
            <a:off x="12573000" y="4721290"/>
            <a:ext cx="0" cy="1322988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8">
            <a:extLst>
              <a:ext uri="{FF2B5EF4-FFF2-40B4-BE49-F238E27FC236}">
                <a16:creationId xmlns:a16="http://schemas.microsoft.com/office/drawing/2014/main" id="{BEB77A76-D0F9-ECFE-B942-045FBDDAA4AC}"/>
              </a:ext>
            </a:extLst>
          </p:cNvPr>
          <p:cNvSpPr txBox="1"/>
          <p:nvPr/>
        </p:nvSpPr>
        <p:spPr>
          <a:xfrm>
            <a:off x="11125200" y="6705002"/>
            <a:ext cx="2895599" cy="12311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spcBef>
                <a:spcPct val="0"/>
              </a:spcBef>
            </a:pPr>
            <a:r>
              <a:rPr lang="ko-KR" altLang="en-US" sz="4000" dirty="0">
                <a:solidFill>
                  <a:srgbClr val="19191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윤고딕 Light"/>
              </a:rPr>
              <a:t>질문에 대한 </a:t>
            </a:r>
            <a:r>
              <a:rPr lang="en-US" altLang="ko-KR" sz="4000" dirty="0">
                <a:solidFill>
                  <a:srgbClr val="19191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윤고딕 Light"/>
              </a:rPr>
              <a:t> </a:t>
            </a:r>
            <a:r>
              <a:rPr lang="ko-KR" altLang="en-US" sz="4000" dirty="0">
                <a:solidFill>
                  <a:srgbClr val="19191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윤고딕 Light"/>
              </a:rPr>
              <a:t>분석</a:t>
            </a:r>
            <a:r>
              <a:rPr lang="en-US" altLang="ko-KR" sz="4000" dirty="0">
                <a:solidFill>
                  <a:srgbClr val="19191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윤고딕 Light"/>
              </a:rPr>
              <a:t> </a:t>
            </a:r>
            <a:r>
              <a:rPr lang="ko-KR" altLang="en-US" sz="4000" dirty="0">
                <a:solidFill>
                  <a:srgbClr val="19191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윤고딕 Light"/>
              </a:rPr>
              <a:t>시에 사용</a:t>
            </a:r>
            <a:endParaRPr lang="en-US" altLang="ko-KR" sz="4000" dirty="0">
              <a:solidFill>
                <a:srgbClr val="191919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  <a:sym typeface="윤고딕 Light"/>
            </a:endParaRPr>
          </a:p>
        </p:txBody>
      </p:sp>
      <p:pic>
        <p:nvPicPr>
          <p:cNvPr id="1032" name="Picture 8" descr="The Movie Database (TMDB) (@themoviedb) / Posts / X">
            <a:extLst>
              <a:ext uri="{FF2B5EF4-FFF2-40B4-BE49-F238E27FC236}">
                <a16:creationId xmlns:a16="http://schemas.microsoft.com/office/drawing/2014/main" id="{09D4AA46-BE3F-44E9-FEE2-2098D1A539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2666" y="3610163"/>
            <a:ext cx="381000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276817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5F7DB8-F615-7166-48A2-A8EF773426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0E877A68-9B01-9D8A-2A92-DE5FFB740851}"/>
              </a:ext>
            </a:extLst>
          </p:cNvPr>
          <p:cNvGrpSpPr/>
          <p:nvPr/>
        </p:nvGrpSpPr>
        <p:grpSpPr>
          <a:xfrm>
            <a:off x="-290868" y="10008764"/>
            <a:ext cx="18869735" cy="120011"/>
            <a:chOff x="0" y="0"/>
            <a:chExt cx="4969807" cy="31608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40E4F7A0-33CF-A9E8-C977-94B6467FDC27}"/>
                </a:ext>
              </a:extLst>
            </p:cNvPr>
            <p:cNvSpPr/>
            <p:nvPr/>
          </p:nvSpPr>
          <p:spPr>
            <a:xfrm>
              <a:off x="0" y="0"/>
              <a:ext cx="4969807" cy="31608"/>
            </a:xfrm>
            <a:custGeom>
              <a:avLst/>
              <a:gdLst/>
              <a:ahLst/>
              <a:cxnLst/>
              <a:rect l="l" t="t" r="r" b="b"/>
              <a:pathLst>
                <a:path w="4969807" h="31608">
                  <a:moveTo>
                    <a:pt x="0" y="0"/>
                  </a:moveTo>
                  <a:lnTo>
                    <a:pt x="4969807" y="0"/>
                  </a:lnTo>
                  <a:lnTo>
                    <a:pt x="4969807" y="31608"/>
                  </a:lnTo>
                  <a:lnTo>
                    <a:pt x="0" y="31608"/>
                  </a:lnTo>
                  <a:close/>
                </a:path>
              </a:pathLst>
            </a:custGeom>
            <a:solidFill>
              <a:srgbClr val="191919"/>
            </a:solidFill>
            <a:ln w="19050" cap="sq">
              <a:solidFill>
                <a:srgbClr val="191919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819FF197-528D-D1D5-604F-9E41503E46C5}"/>
                </a:ext>
              </a:extLst>
            </p:cNvPr>
            <p:cNvSpPr txBox="1"/>
            <p:nvPr/>
          </p:nvSpPr>
          <p:spPr>
            <a:xfrm>
              <a:off x="0" y="-47625"/>
              <a:ext cx="4969807" cy="792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AutoShape 5">
            <a:extLst>
              <a:ext uri="{FF2B5EF4-FFF2-40B4-BE49-F238E27FC236}">
                <a16:creationId xmlns:a16="http://schemas.microsoft.com/office/drawing/2014/main" id="{62E512D6-2AF2-FF64-534E-DF3C07D1D20F}"/>
              </a:ext>
            </a:extLst>
          </p:cNvPr>
          <p:cNvSpPr/>
          <p:nvPr/>
        </p:nvSpPr>
        <p:spPr>
          <a:xfrm>
            <a:off x="0" y="828675"/>
            <a:ext cx="4227313" cy="0"/>
          </a:xfrm>
          <a:prstGeom prst="line">
            <a:avLst/>
          </a:prstGeom>
          <a:ln w="38100" cap="flat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F54D5C19-9921-C245-A62A-AAB73ED57576}"/>
              </a:ext>
            </a:extLst>
          </p:cNvPr>
          <p:cNvSpPr txBox="1"/>
          <p:nvPr/>
        </p:nvSpPr>
        <p:spPr>
          <a:xfrm>
            <a:off x="13378146" y="781050"/>
            <a:ext cx="3881154" cy="4245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639"/>
              </a:lnSpc>
              <a:spcBef>
                <a:spcPct val="0"/>
              </a:spcBef>
            </a:pPr>
            <a:r>
              <a:rPr lang="ko-KR" altLang="en-US" sz="2599" dirty="0">
                <a:solidFill>
                  <a:srgbClr val="191919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  <a:sym typeface="윤고딕"/>
              </a:rPr>
              <a:t>기술 사항</a:t>
            </a:r>
            <a:endParaRPr lang="en-US" sz="2599" dirty="0">
              <a:solidFill>
                <a:srgbClr val="191919"/>
              </a:solidFill>
              <a:latin typeface="Pretendard Medium" panose="02000503000000020004" pitchFamily="2" charset="-127"/>
              <a:ea typeface="Pretendard Medium" panose="02000503000000020004" pitchFamily="2" charset="-127"/>
              <a:cs typeface="Pretendard Medium" panose="02000503000000020004" pitchFamily="2" charset="-127"/>
              <a:sym typeface="윤고딕"/>
            </a:endParaRP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1027041E-B5BB-F66F-24C4-B63CD7CF430C}"/>
              </a:ext>
            </a:extLst>
          </p:cNvPr>
          <p:cNvSpPr txBox="1"/>
          <p:nvPr/>
        </p:nvSpPr>
        <p:spPr>
          <a:xfrm>
            <a:off x="914400" y="944123"/>
            <a:ext cx="3256532" cy="7764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6589"/>
              </a:lnSpc>
              <a:spcBef>
                <a:spcPct val="0"/>
              </a:spcBef>
            </a:pPr>
            <a:r>
              <a:rPr lang="ko-KR" altLang="en-US" sz="4706" spc="-65" dirty="0">
                <a:solidFill>
                  <a:srgbClr val="191919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  <a:sym typeface="윤고딕"/>
              </a:rPr>
              <a:t>데이터베이스</a:t>
            </a:r>
            <a:endParaRPr lang="en-US" sz="4706" spc="-65" dirty="0">
              <a:solidFill>
                <a:srgbClr val="191919"/>
              </a:solidFill>
              <a:latin typeface="Pretendard Medium" panose="02000503000000020004" pitchFamily="2" charset="-127"/>
              <a:ea typeface="Pretendard Medium" panose="02000503000000020004" pitchFamily="2" charset="-127"/>
              <a:cs typeface="Pretendard Medium" panose="02000503000000020004" pitchFamily="2" charset="-127"/>
              <a:sym typeface="윤고딕"/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400B327B-B0C7-63AA-CA52-3E7293F0EC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7138" y="4466077"/>
            <a:ext cx="6067143" cy="4876800"/>
          </a:xfrm>
          <a:prstGeom prst="rect">
            <a:avLst/>
          </a:prstGeom>
        </p:spPr>
      </p:pic>
      <p:sp>
        <p:nvSpPr>
          <p:cNvPr id="16" name="TextBox 8">
            <a:extLst>
              <a:ext uri="{FF2B5EF4-FFF2-40B4-BE49-F238E27FC236}">
                <a16:creationId xmlns:a16="http://schemas.microsoft.com/office/drawing/2014/main" id="{3B8C1C35-6DC8-E93F-9B9D-67B656BE278A}"/>
              </a:ext>
            </a:extLst>
          </p:cNvPr>
          <p:cNvSpPr txBox="1"/>
          <p:nvPr/>
        </p:nvSpPr>
        <p:spPr>
          <a:xfrm>
            <a:off x="10225517" y="3177097"/>
            <a:ext cx="5029198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spcBef>
                <a:spcPct val="0"/>
              </a:spcBef>
            </a:pPr>
            <a:r>
              <a:rPr lang="ko-KR" altLang="en-US" sz="4000" dirty="0">
                <a:solidFill>
                  <a:srgbClr val="19191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윤고딕 Light"/>
              </a:rPr>
              <a:t>데이터에 지역명이 없음</a:t>
            </a:r>
            <a:endParaRPr lang="en-US" altLang="ko-KR" sz="4000" dirty="0">
              <a:solidFill>
                <a:srgbClr val="191919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  <a:sym typeface="윤고딕 Light"/>
            </a:endParaRPr>
          </a:p>
        </p:txBody>
      </p: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D0D31180-16CE-9B75-BC69-C72CD6385407}"/>
              </a:ext>
            </a:extLst>
          </p:cNvPr>
          <p:cNvCxnSpPr>
            <a:cxnSpLocks/>
          </p:cNvCxnSpPr>
          <p:nvPr/>
        </p:nvCxnSpPr>
        <p:spPr>
          <a:xfrm>
            <a:off x="12734616" y="4466077"/>
            <a:ext cx="0" cy="1322988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8">
            <a:extLst>
              <a:ext uri="{FF2B5EF4-FFF2-40B4-BE49-F238E27FC236}">
                <a16:creationId xmlns:a16="http://schemas.microsoft.com/office/drawing/2014/main" id="{1C4E885F-4CEB-ECA2-FD70-B6652D2F0476}"/>
              </a:ext>
            </a:extLst>
          </p:cNvPr>
          <p:cNvSpPr txBox="1"/>
          <p:nvPr/>
        </p:nvSpPr>
        <p:spPr>
          <a:xfrm>
            <a:off x="10670144" y="6317549"/>
            <a:ext cx="4128944" cy="18466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spcBef>
                <a:spcPct val="0"/>
              </a:spcBef>
            </a:pPr>
            <a:r>
              <a:rPr lang="ko-KR" altLang="en-US" sz="4000" dirty="0">
                <a:solidFill>
                  <a:srgbClr val="19191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윤고딕 Light"/>
              </a:rPr>
              <a:t>제목</a:t>
            </a:r>
            <a:r>
              <a:rPr lang="en-US" altLang="ko-KR" sz="4000" dirty="0">
                <a:solidFill>
                  <a:srgbClr val="19191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윤고딕 Light"/>
              </a:rPr>
              <a:t>, </a:t>
            </a:r>
            <a:r>
              <a:rPr lang="ko-KR" altLang="en-US" sz="4000" dirty="0">
                <a:solidFill>
                  <a:srgbClr val="19191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윤고딕 Light"/>
              </a:rPr>
              <a:t>장소 데이터를 활용하여 새로운 </a:t>
            </a:r>
            <a:r>
              <a:rPr lang="ko-KR" altLang="en-US" sz="4000" dirty="0" err="1">
                <a:solidFill>
                  <a:srgbClr val="19191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윤고딕 Light"/>
              </a:rPr>
              <a:t>지역명</a:t>
            </a:r>
            <a:r>
              <a:rPr lang="ko-KR" altLang="en-US" sz="4000" dirty="0">
                <a:solidFill>
                  <a:srgbClr val="19191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윤고딕 Light"/>
              </a:rPr>
              <a:t> 필드를 생성</a:t>
            </a:r>
            <a:endParaRPr lang="en-US" altLang="ko-KR" sz="4000" dirty="0">
              <a:solidFill>
                <a:srgbClr val="191919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  <a:sym typeface="윤고딕 Light"/>
            </a:endParaRPr>
          </a:p>
        </p:txBody>
      </p:sp>
      <p:pic>
        <p:nvPicPr>
          <p:cNvPr id="21" name="그림 20" descr="텍스트, 폰트, 로고, 그래픽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9439E6C-E8A9-474D-7174-2FF03DA1800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9857" y="2324215"/>
            <a:ext cx="3809997" cy="1971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31284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F22AAA-4E8F-78E6-A72C-D602345A5B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B7868DD1-0C0A-F56A-1453-486FA5FCBBD2}"/>
              </a:ext>
            </a:extLst>
          </p:cNvPr>
          <p:cNvSpPr txBox="1"/>
          <p:nvPr/>
        </p:nvSpPr>
        <p:spPr>
          <a:xfrm>
            <a:off x="5709183" y="4654503"/>
            <a:ext cx="6869633" cy="9618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492"/>
              </a:lnSpc>
            </a:pPr>
            <a:r>
              <a:rPr lang="ko-KR" altLang="en-US" sz="6514" b="1" spc="-214" dirty="0">
                <a:solidFill>
                  <a:srgbClr val="191919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  <a:sym typeface="윤고딕 Bold"/>
              </a:rPr>
              <a:t>실행 예시</a:t>
            </a:r>
            <a:endParaRPr lang="en-US" sz="6514" b="1" spc="-214" dirty="0">
              <a:solidFill>
                <a:srgbClr val="191919"/>
              </a:solidFill>
              <a:latin typeface="Pretendard SemiBold" panose="02000503000000020004" pitchFamily="2" charset="-127"/>
              <a:ea typeface="Pretendard SemiBold" panose="02000503000000020004" pitchFamily="2" charset="-127"/>
              <a:cs typeface="Pretendard SemiBold" panose="02000503000000020004" pitchFamily="2" charset="-127"/>
              <a:sym typeface="윤고딕 Bold"/>
            </a:endParaRPr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F27E1196-C14E-BF7C-6717-024672AC97C5}"/>
              </a:ext>
            </a:extLst>
          </p:cNvPr>
          <p:cNvGrpSpPr/>
          <p:nvPr/>
        </p:nvGrpSpPr>
        <p:grpSpPr>
          <a:xfrm>
            <a:off x="-290868" y="10008764"/>
            <a:ext cx="18869735" cy="120011"/>
            <a:chOff x="0" y="0"/>
            <a:chExt cx="4969807" cy="31608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EB7E7D09-F608-222C-0563-3E43894327E1}"/>
                </a:ext>
              </a:extLst>
            </p:cNvPr>
            <p:cNvSpPr/>
            <p:nvPr/>
          </p:nvSpPr>
          <p:spPr>
            <a:xfrm>
              <a:off x="0" y="0"/>
              <a:ext cx="4969807" cy="31608"/>
            </a:xfrm>
            <a:custGeom>
              <a:avLst/>
              <a:gdLst/>
              <a:ahLst/>
              <a:cxnLst/>
              <a:rect l="l" t="t" r="r" b="b"/>
              <a:pathLst>
                <a:path w="4969807" h="31608">
                  <a:moveTo>
                    <a:pt x="0" y="0"/>
                  </a:moveTo>
                  <a:lnTo>
                    <a:pt x="4969807" y="0"/>
                  </a:lnTo>
                  <a:lnTo>
                    <a:pt x="4969807" y="31608"/>
                  </a:lnTo>
                  <a:lnTo>
                    <a:pt x="0" y="31608"/>
                  </a:lnTo>
                  <a:close/>
                </a:path>
              </a:pathLst>
            </a:custGeom>
            <a:solidFill>
              <a:srgbClr val="191919"/>
            </a:solidFill>
            <a:ln w="19050" cap="sq">
              <a:solidFill>
                <a:srgbClr val="191919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BDC6F687-A665-2B92-7922-245D783B6A1D}"/>
                </a:ext>
              </a:extLst>
            </p:cNvPr>
            <p:cNvSpPr txBox="1"/>
            <p:nvPr/>
          </p:nvSpPr>
          <p:spPr>
            <a:xfrm>
              <a:off x="0" y="-47625"/>
              <a:ext cx="4969807" cy="792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A9393F18-B704-BE0B-527F-BBD64BF4AC0D}"/>
              </a:ext>
            </a:extLst>
          </p:cNvPr>
          <p:cNvGrpSpPr/>
          <p:nvPr/>
        </p:nvGrpSpPr>
        <p:grpSpPr>
          <a:xfrm>
            <a:off x="-290868" y="9717040"/>
            <a:ext cx="18869735" cy="120011"/>
            <a:chOff x="0" y="0"/>
            <a:chExt cx="4969807" cy="31608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AFEF608A-6381-4F21-6996-7C6D1B88D975}"/>
                </a:ext>
              </a:extLst>
            </p:cNvPr>
            <p:cNvSpPr/>
            <p:nvPr/>
          </p:nvSpPr>
          <p:spPr>
            <a:xfrm>
              <a:off x="0" y="0"/>
              <a:ext cx="4969807" cy="31608"/>
            </a:xfrm>
            <a:custGeom>
              <a:avLst/>
              <a:gdLst/>
              <a:ahLst/>
              <a:cxnLst/>
              <a:rect l="l" t="t" r="r" b="b"/>
              <a:pathLst>
                <a:path w="4969807" h="31608">
                  <a:moveTo>
                    <a:pt x="0" y="0"/>
                  </a:moveTo>
                  <a:lnTo>
                    <a:pt x="4969807" y="0"/>
                  </a:lnTo>
                  <a:lnTo>
                    <a:pt x="4969807" y="31608"/>
                  </a:lnTo>
                  <a:lnTo>
                    <a:pt x="0" y="31608"/>
                  </a:lnTo>
                  <a:close/>
                </a:path>
              </a:pathLst>
            </a:custGeom>
            <a:solidFill>
              <a:srgbClr val="191919"/>
            </a:solidFill>
            <a:ln w="19050" cap="sq">
              <a:solidFill>
                <a:srgbClr val="191919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01659CBF-3D5A-7C50-8DAD-193D8A3C5373}"/>
                </a:ext>
              </a:extLst>
            </p:cNvPr>
            <p:cNvSpPr txBox="1"/>
            <p:nvPr/>
          </p:nvSpPr>
          <p:spPr>
            <a:xfrm>
              <a:off x="0" y="-47625"/>
              <a:ext cx="4969807" cy="792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405839734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90868" y="10008764"/>
            <a:ext cx="18869735" cy="120011"/>
            <a:chOff x="0" y="0"/>
            <a:chExt cx="4969807" cy="3160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969807" cy="31608"/>
            </a:xfrm>
            <a:custGeom>
              <a:avLst/>
              <a:gdLst/>
              <a:ahLst/>
              <a:cxnLst/>
              <a:rect l="l" t="t" r="r" b="b"/>
              <a:pathLst>
                <a:path w="4969807" h="31608">
                  <a:moveTo>
                    <a:pt x="0" y="0"/>
                  </a:moveTo>
                  <a:lnTo>
                    <a:pt x="4969807" y="0"/>
                  </a:lnTo>
                  <a:lnTo>
                    <a:pt x="4969807" y="31608"/>
                  </a:lnTo>
                  <a:lnTo>
                    <a:pt x="0" y="31608"/>
                  </a:lnTo>
                  <a:close/>
                </a:path>
              </a:pathLst>
            </a:custGeom>
            <a:solidFill>
              <a:srgbClr val="191919"/>
            </a:solidFill>
            <a:ln w="19050" cap="sq">
              <a:solidFill>
                <a:srgbClr val="191919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969807" cy="792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AutoShape 5"/>
          <p:cNvSpPr/>
          <p:nvPr/>
        </p:nvSpPr>
        <p:spPr>
          <a:xfrm>
            <a:off x="0" y="828675"/>
            <a:ext cx="3276389" cy="0"/>
          </a:xfrm>
          <a:prstGeom prst="line">
            <a:avLst/>
          </a:prstGeom>
          <a:ln w="38100" cap="flat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Box 19"/>
          <p:cNvSpPr txBox="1"/>
          <p:nvPr/>
        </p:nvSpPr>
        <p:spPr>
          <a:xfrm>
            <a:off x="13378146" y="781050"/>
            <a:ext cx="3881154" cy="4245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639"/>
              </a:lnSpc>
              <a:spcBef>
                <a:spcPct val="0"/>
              </a:spcBef>
            </a:pPr>
            <a:r>
              <a:rPr lang="ko-KR" altLang="en-US" sz="2599" dirty="0">
                <a:solidFill>
                  <a:srgbClr val="191919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  <a:sym typeface="윤고딕"/>
              </a:rPr>
              <a:t>실행 예시</a:t>
            </a:r>
            <a:endParaRPr lang="en-US" sz="2599" dirty="0">
              <a:solidFill>
                <a:srgbClr val="191919"/>
              </a:solidFill>
              <a:latin typeface="Pretendard Medium" panose="02000503000000020004" pitchFamily="2" charset="-127"/>
              <a:ea typeface="Pretendard Medium" panose="02000503000000020004" pitchFamily="2" charset="-127"/>
              <a:cs typeface="Pretendard Medium" panose="02000503000000020004" pitchFamily="2" charset="-127"/>
              <a:sym typeface="윤고딕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1123950" y="944123"/>
            <a:ext cx="2186274" cy="794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6589"/>
              </a:lnSpc>
              <a:spcBef>
                <a:spcPct val="0"/>
              </a:spcBef>
            </a:pPr>
            <a:r>
              <a:rPr lang="ko-KR" altLang="en-US" sz="4706" spc="-65" dirty="0">
                <a:solidFill>
                  <a:srgbClr val="191919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  <a:sym typeface="윤고딕"/>
              </a:rPr>
              <a:t>기본화면</a:t>
            </a:r>
            <a:endParaRPr lang="en-US" sz="4706" spc="-65" dirty="0">
              <a:solidFill>
                <a:srgbClr val="191919"/>
              </a:solidFill>
              <a:latin typeface="Pretendard Medium" panose="02000503000000020004" pitchFamily="2" charset="-127"/>
              <a:ea typeface="Pretendard Medium" panose="02000503000000020004" pitchFamily="2" charset="-127"/>
              <a:cs typeface="Pretendard Medium" panose="02000503000000020004" pitchFamily="2" charset="-127"/>
              <a:sym typeface="윤고딕"/>
            </a:endParaRPr>
          </a:p>
        </p:txBody>
      </p:sp>
      <p:pic>
        <p:nvPicPr>
          <p:cNvPr id="30" name="그림 29" descr="텍스트, 스크린샷, 소프트웨어, 컴퓨터 아이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BFE8D63-F49B-4B7F-CEA6-96333C9640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3033394"/>
            <a:ext cx="7835633" cy="4897271"/>
          </a:xfrm>
          <a:prstGeom prst="rect">
            <a:avLst/>
          </a:prstGeom>
        </p:spPr>
      </p:pic>
      <p:pic>
        <p:nvPicPr>
          <p:cNvPr id="31" name="그림 30" descr="텍스트, 스크린샷, 소프트웨어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FA71F20-23EA-8B8E-208E-B5EB8CEA5C1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11401" r="-1"/>
          <a:stretch>
            <a:fillRect/>
          </a:stretch>
        </p:blipFill>
        <p:spPr>
          <a:xfrm>
            <a:off x="8532477" y="3033394"/>
            <a:ext cx="8726823" cy="4896000"/>
          </a:xfrm>
          <a:prstGeom prst="rect">
            <a:avLst/>
          </a:prstGeom>
        </p:spPr>
      </p:pic>
      <p:sp>
        <p:nvSpPr>
          <p:cNvPr id="32" name="TextBox 8">
            <a:extLst>
              <a:ext uri="{FF2B5EF4-FFF2-40B4-BE49-F238E27FC236}">
                <a16:creationId xmlns:a16="http://schemas.microsoft.com/office/drawing/2014/main" id="{2ACCD128-5CC6-D8D2-E355-72974EC3CF71}"/>
              </a:ext>
            </a:extLst>
          </p:cNvPr>
          <p:cNvSpPr txBox="1"/>
          <p:nvPr/>
        </p:nvSpPr>
        <p:spPr>
          <a:xfrm>
            <a:off x="4202672" y="8122209"/>
            <a:ext cx="954287" cy="50430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779"/>
              </a:lnSpc>
              <a:spcBef>
                <a:spcPct val="0"/>
              </a:spcBef>
            </a:pPr>
            <a:r>
              <a:rPr lang="ko-KR" altLang="en-US" sz="4000" dirty="0">
                <a:solidFill>
                  <a:srgbClr val="19191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윤고딕 Light"/>
              </a:rPr>
              <a:t>영화</a:t>
            </a:r>
            <a:endParaRPr lang="en-US" sz="4000" dirty="0">
              <a:solidFill>
                <a:srgbClr val="191919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  <a:sym typeface="윤고딕 Light"/>
            </a:endParaRPr>
          </a:p>
        </p:txBody>
      </p:sp>
      <p:sp>
        <p:nvSpPr>
          <p:cNvPr id="33" name="TextBox 8">
            <a:extLst>
              <a:ext uri="{FF2B5EF4-FFF2-40B4-BE49-F238E27FC236}">
                <a16:creationId xmlns:a16="http://schemas.microsoft.com/office/drawing/2014/main" id="{02DED98B-C1B7-9EC9-6A49-FA45B436DEE1}"/>
              </a:ext>
            </a:extLst>
          </p:cNvPr>
          <p:cNvSpPr txBox="1"/>
          <p:nvPr/>
        </p:nvSpPr>
        <p:spPr>
          <a:xfrm>
            <a:off x="13030200" y="8122209"/>
            <a:ext cx="954287" cy="50430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779"/>
              </a:lnSpc>
              <a:spcBef>
                <a:spcPct val="0"/>
              </a:spcBef>
            </a:pPr>
            <a:r>
              <a:rPr lang="ko-KR" altLang="en-US" sz="4000" dirty="0">
                <a:solidFill>
                  <a:srgbClr val="19191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윤고딕 Light"/>
              </a:rPr>
              <a:t>공연</a:t>
            </a:r>
            <a:endParaRPr lang="en-US" sz="4000" dirty="0">
              <a:solidFill>
                <a:srgbClr val="191919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  <a:sym typeface="윤고딕 Light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A8DB8C-CFBE-350D-C896-43EAA6A1BF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2FF30C18-B8D5-1023-1134-F7B3656F4632}"/>
              </a:ext>
            </a:extLst>
          </p:cNvPr>
          <p:cNvGrpSpPr/>
          <p:nvPr/>
        </p:nvGrpSpPr>
        <p:grpSpPr>
          <a:xfrm>
            <a:off x="-290868" y="10008764"/>
            <a:ext cx="18869735" cy="120011"/>
            <a:chOff x="0" y="0"/>
            <a:chExt cx="4969807" cy="31608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28182280-A2B5-D6BF-A52D-8047DA252BCB}"/>
                </a:ext>
              </a:extLst>
            </p:cNvPr>
            <p:cNvSpPr/>
            <p:nvPr/>
          </p:nvSpPr>
          <p:spPr>
            <a:xfrm>
              <a:off x="0" y="0"/>
              <a:ext cx="4969807" cy="31608"/>
            </a:xfrm>
            <a:custGeom>
              <a:avLst/>
              <a:gdLst/>
              <a:ahLst/>
              <a:cxnLst/>
              <a:rect l="l" t="t" r="r" b="b"/>
              <a:pathLst>
                <a:path w="4969807" h="31608">
                  <a:moveTo>
                    <a:pt x="0" y="0"/>
                  </a:moveTo>
                  <a:lnTo>
                    <a:pt x="4969807" y="0"/>
                  </a:lnTo>
                  <a:lnTo>
                    <a:pt x="4969807" y="31608"/>
                  </a:lnTo>
                  <a:lnTo>
                    <a:pt x="0" y="31608"/>
                  </a:lnTo>
                  <a:close/>
                </a:path>
              </a:pathLst>
            </a:custGeom>
            <a:solidFill>
              <a:srgbClr val="191919"/>
            </a:solidFill>
            <a:ln w="19050" cap="sq">
              <a:solidFill>
                <a:srgbClr val="191919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02F8D1CC-0381-8443-A71F-2DB1EB19AA8A}"/>
                </a:ext>
              </a:extLst>
            </p:cNvPr>
            <p:cNvSpPr txBox="1"/>
            <p:nvPr/>
          </p:nvSpPr>
          <p:spPr>
            <a:xfrm>
              <a:off x="0" y="-47625"/>
              <a:ext cx="4969807" cy="792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AutoShape 5">
            <a:extLst>
              <a:ext uri="{FF2B5EF4-FFF2-40B4-BE49-F238E27FC236}">
                <a16:creationId xmlns:a16="http://schemas.microsoft.com/office/drawing/2014/main" id="{9E3A336C-3285-D1D4-2FDB-01EBC65B4C7E}"/>
              </a:ext>
            </a:extLst>
          </p:cNvPr>
          <p:cNvSpPr/>
          <p:nvPr/>
        </p:nvSpPr>
        <p:spPr>
          <a:xfrm>
            <a:off x="0" y="828675"/>
            <a:ext cx="3276389" cy="0"/>
          </a:xfrm>
          <a:prstGeom prst="line">
            <a:avLst/>
          </a:prstGeom>
          <a:ln w="38100" cap="flat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F7949B30-97A5-CA84-D6BF-EF79040DCE31}"/>
              </a:ext>
            </a:extLst>
          </p:cNvPr>
          <p:cNvSpPr txBox="1"/>
          <p:nvPr/>
        </p:nvSpPr>
        <p:spPr>
          <a:xfrm>
            <a:off x="13378146" y="781050"/>
            <a:ext cx="3881154" cy="4245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639"/>
              </a:lnSpc>
              <a:spcBef>
                <a:spcPct val="0"/>
              </a:spcBef>
            </a:pPr>
            <a:r>
              <a:rPr lang="ko-KR" altLang="en-US" sz="2599" dirty="0">
                <a:solidFill>
                  <a:srgbClr val="191919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  <a:sym typeface="윤고딕"/>
              </a:rPr>
              <a:t>실행 예시</a:t>
            </a:r>
            <a:endParaRPr lang="en-US" sz="2599" dirty="0">
              <a:solidFill>
                <a:srgbClr val="191919"/>
              </a:solidFill>
              <a:latin typeface="Pretendard Medium" panose="02000503000000020004" pitchFamily="2" charset="-127"/>
              <a:ea typeface="Pretendard Medium" panose="02000503000000020004" pitchFamily="2" charset="-127"/>
              <a:cs typeface="Pretendard Medium" panose="02000503000000020004" pitchFamily="2" charset="-127"/>
              <a:sym typeface="윤고딕"/>
            </a:endParaRP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BD2B2EBA-D6EE-4261-442F-1CC685B33998}"/>
              </a:ext>
            </a:extLst>
          </p:cNvPr>
          <p:cNvSpPr txBox="1"/>
          <p:nvPr/>
        </p:nvSpPr>
        <p:spPr>
          <a:xfrm>
            <a:off x="533400" y="944123"/>
            <a:ext cx="2776824" cy="7764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6589"/>
              </a:lnSpc>
              <a:spcBef>
                <a:spcPct val="0"/>
              </a:spcBef>
            </a:pPr>
            <a:r>
              <a:rPr lang="ko-KR" altLang="en-US" sz="4706" spc="-65">
                <a:solidFill>
                  <a:srgbClr val="191919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  <a:sym typeface="윤고딕"/>
              </a:rPr>
              <a:t>박스오피스</a:t>
            </a:r>
            <a:endParaRPr lang="en-US" sz="4706" spc="-65" dirty="0">
              <a:solidFill>
                <a:srgbClr val="191919"/>
              </a:solidFill>
              <a:latin typeface="Pretendard Medium" panose="02000503000000020004" pitchFamily="2" charset="-127"/>
              <a:ea typeface="Pretendard Medium" panose="02000503000000020004" pitchFamily="2" charset="-127"/>
              <a:cs typeface="Pretendard Medium" panose="02000503000000020004" pitchFamily="2" charset="-127"/>
              <a:sym typeface="윤고딕"/>
            </a:endParaRPr>
          </a:p>
        </p:txBody>
      </p:sp>
      <p:pic>
        <p:nvPicPr>
          <p:cNvPr id="30" name="그림 29" descr="텍스트, 스크린샷, 소프트웨어, 컴퓨터 아이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DC9FC26-7BDA-6FE7-5A47-3FA2F5A5AB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4800" y="1989452"/>
            <a:ext cx="12038398" cy="7524000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884A4339-795E-42A3-3D14-096C0FE12B8A}"/>
              </a:ext>
            </a:extLst>
          </p:cNvPr>
          <p:cNvSpPr/>
          <p:nvPr/>
        </p:nvSpPr>
        <p:spPr>
          <a:xfrm>
            <a:off x="13258800" y="2946400"/>
            <a:ext cx="1752600" cy="5334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030949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E5AB2E-09A6-13C1-18FF-F1AE362065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753491B9-47AA-2791-694B-69D9C8A5E9F8}"/>
              </a:ext>
            </a:extLst>
          </p:cNvPr>
          <p:cNvGrpSpPr/>
          <p:nvPr/>
        </p:nvGrpSpPr>
        <p:grpSpPr>
          <a:xfrm>
            <a:off x="-290868" y="10008764"/>
            <a:ext cx="18869735" cy="120011"/>
            <a:chOff x="0" y="0"/>
            <a:chExt cx="4969807" cy="31608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68AFF42B-7120-0D43-1848-F3DBC9F26DA4}"/>
                </a:ext>
              </a:extLst>
            </p:cNvPr>
            <p:cNvSpPr/>
            <p:nvPr/>
          </p:nvSpPr>
          <p:spPr>
            <a:xfrm>
              <a:off x="0" y="0"/>
              <a:ext cx="4969807" cy="31608"/>
            </a:xfrm>
            <a:custGeom>
              <a:avLst/>
              <a:gdLst/>
              <a:ahLst/>
              <a:cxnLst/>
              <a:rect l="l" t="t" r="r" b="b"/>
              <a:pathLst>
                <a:path w="4969807" h="31608">
                  <a:moveTo>
                    <a:pt x="0" y="0"/>
                  </a:moveTo>
                  <a:lnTo>
                    <a:pt x="4969807" y="0"/>
                  </a:lnTo>
                  <a:lnTo>
                    <a:pt x="4969807" y="31608"/>
                  </a:lnTo>
                  <a:lnTo>
                    <a:pt x="0" y="31608"/>
                  </a:lnTo>
                  <a:close/>
                </a:path>
              </a:pathLst>
            </a:custGeom>
            <a:solidFill>
              <a:srgbClr val="191919"/>
            </a:solidFill>
            <a:ln w="19050" cap="sq">
              <a:solidFill>
                <a:srgbClr val="191919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9E3CEC5C-6158-88C7-E70C-3BDBFA0FA361}"/>
                </a:ext>
              </a:extLst>
            </p:cNvPr>
            <p:cNvSpPr txBox="1"/>
            <p:nvPr/>
          </p:nvSpPr>
          <p:spPr>
            <a:xfrm>
              <a:off x="0" y="-47625"/>
              <a:ext cx="4969807" cy="792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AutoShape 5">
            <a:extLst>
              <a:ext uri="{FF2B5EF4-FFF2-40B4-BE49-F238E27FC236}">
                <a16:creationId xmlns:a16="http://schemas.microsoft.com/office/drawing/2014/main" id="{4F4AC974-AE64-99F2-0B5F-D112C704DB84}"/>
              </a:ext>
            </a:extLst>
          </p:cNvPr>
          <p:cNvSpPr/>
          <p:nvPr/>
        </p:nvSpPr>
        <p:spPr>
          <a:xfrm>
            <a:off x="0" y="828675"/>
            <a:ext cx="3276389" cy="0"/>
          </a:xfrm>
          <a:prstGeom prst="line">
            <a:avLst/>
          </a:prstGeom>
          <a:ln w="38100" cap="flat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DBFC620B-D065-C843-CF2F-C63546A57A45}"/>
              </a:ext>
            </a:extLst>
          </p:cNvPr>
          <p:cNvSpPr txBox="1"/>
          <p:nvPr/>
        </p:nvSpPr>
        <p:spPr>
          <a:xfrm>
            <a:off x="13378146" y="781050"/>
            <a:ext cx="3881154" cy="4245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639"/>
              </a:lnSpc>
              <a:spcBef>
                <a:spcPct val="0"/>
              </a:spcBef>
            </a:pPr>
            <a:r>
              <a:rPr lang="ko-KR" altLang="en-US" sz="2599" dirty="0">
                <a:solidFill>
                  <a:srgbClr val="191919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  <a:sym typeface="윤고딕"/>
              </a:rPr>
              <a:t>실행 예시</a:t>
            </a:r>
            <a:endParaRPr lang="en-US" sz="2599" dirty="0">
              <a:solidFill>
                <a:srgbClr val="191919"/>
              </a:solidFill>
              <a:latin typeface="Pretendard Medium" panose="02000503000000020004" pitchFamily="2" charset="-127"/>
              <a:ea typeface="Pretendard Medium" panose="02000503000000020004" pitchFamily="2" charset="-127"/>
              <a:cs typeface="Pretendard Medium" panose="02000503000000020004" pitchFamily="2" charset="-127"/>
              <a:sym typeface="윤고딕"/>
            </a:endParaRP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53D60EF7-20DC-F8DF-4558-601CF7FE0247}"/>
              </a:ext>
            </a:extLst>
          </p:cNvPr>
          <p:cNvSpPr txBox="1"/>
          <p:nvPr/>
        </p:nvSpPr>
        <p:spPr>
          <a:xfrm>
            <a:off x="381000" y="944123"/>
            <a:ext cx="2929224" cy="7764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6589"/>
              </a:lnSpc>
              <a:spcBef>
                <a:spcPct val="0"/>
              </a:spcBef>
            </a:pPr>
            <a:r>
              <a:rPr lang="ko-KR" altLang="en-US" sz="4706" spc="-65" dirty="0">
                <a:solidFill>
                  <a:srgbClr val="191919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  <a:sym typeface="윤고딕"/>
              </a:rPr>
              <a:t>박스오피스</a:t>
            </a:r>
            <a:endParaRPr lang="en-US" sz="4706" spc="-65" dirty="0">
              <a:solidFill>
                <a:srgbClr val="191919"/>
              </a:solidFill>
              <a:latin typeface="Pretendard Medium" panose="02000503000000020004" pitchFamily="2" charset="-127"/>
              <a:ea typeface="Pretendard Medium" panose="02000503000000020004" pitchFamily="2" charset="-127"/>
              <a:cs typeface="Pretendard Medium" panose="02000503000000020004" pitchFamily="2" charset="-127"/>
              <a:sym typeface="윤고딕"/>
            </a:endParaRPr>
          </a:p>
        </p:txBody>
      </p:sp>
      <p:pic>
        <p:nvPicPr>
          <p:cNvPr id="7" name="그림 6" descr="텍스트, 스크린샷, 소프트웨어, 웹 페이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6120458-26F6-F91A-170D-97C92C44F1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4199" y="2007108"/>
            <a:ext cx="12039600" cy="7524750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74DB135B-6494-0B82-77AE-BC280B53D6EF}"/>
              </a:ext>
            </a:extLst>
          </p:cNvPr>
          <p:cNvSpPr/>
          <p:nvPr/>
        </p:nvSpPr>
        <p:spPr>
          <a:xfrm>
            <a:off x="13258800" y="2946400"/>
            <a:ext cx="1752600" cy="5334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300930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945E6F-D247-2DCD-7CC4-98E0CEB1B3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3DD46F7A-3EA8-7C1F-92F7-C6B046920BC9}"/>
              </a:ext>
            </a:extLst>
          </p:cNvPr>
          <p:cNvGrpSpPr/>
          <p:nvPr/>
        </p:nvGrpSpPr>
        <p:grpSpPr>
          <a:xfrm>
            <a:off x="-290868" y="10008764"/>
            <a:ext cx="18869735" cy="120011"/>
            <a:chOff x="0" y="0"/>
            <a:chExt cx="4969807" cy="31608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93AFA87-55E8-F521-C7DC-8D7BA276F0CD}"/>
                </a:ext>
              </a:extLst>
            </p:cNvPr>
            <p:cNvSpPr/>
            <p:nvPr/>
          </p:nvSpPr>
          <p:spPr>
            <a:xfrm>
              <a:off x="0" y="0"/>
              <a:ext cx="4969807" cy="31608"/>
            </a:xfrm>
            <a:custGeom>
              <a:avLst/>
              <a:gdLst/>
              <a:ahLst/>
              <a:cxnLst/>
              <a:rect l="l" t="t" r="r" b="b"/>
              <a:pathLst>
                <a:path w="4969807" h="31608">
                  <a:moveTo>
                    <a:pt x="0" y="0"/>
                  </a:moveTo>
                  <a:lnTo>
                    <a:pt x="4969807" y="0"/>
                  </a:lnTo>
                  <a:lnTo>
                    <a:pt x="4969807" y="31608"/>
                  </a:lnTo>
                  <a:lnTo>
                    <a:pt x="0" y="31608"/>
                  </a:lnTo>
                  <a:close/>
                </a:path>
              </a:pathLst>
            </a:custGeom>
            <a:solidFill>
              <a:srgbClr val="191919"/>
            </a:solidFill>
            <a:ln w="19050" cap="sq">
              <a:solidFill>
                <a:srgbClr val="191919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35C807A1-0E11-796F-7C88-156D06379252}"/>
                </a:ext>
              </a:extLst>
            </p:cNvPr>
            <p:cNvSpPr txBox="1"/>
            <p:nvPr/>
          </p:nvSpPr>
          <p:spPr>
            <a:xfrm>
              <a:off x="0" y="-47625"/>
              <a:ext cx="4969807" cy="792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AutoShape 5">
            <a:extLst>
              <a:ext uri="{FF2B5EF4-FFF2-40B4-BE49-F238E27FC236}">
                <a16:creationId xmlns:a16="http://schemas.microsoft.com/office/drawing/2014/main" id="{48F08505-7416-C0CB-4065-370E985AC582}"/>
              </a:ext>
            </a:extLst>
          </p:cNvPr>
          <p:cNvSpPr/>
          <p:nvPr/>
        </p:nvSpPr>
        <p:spPr>
          <a:xfrm>
            <a:off x="0" y="828675"/>
            <a:ext cx="3276389" cy="0"/>
          </a:xfrm>
          <a:prstGeom prst="line">
            <a:avLst/>
          </a:prstGeom>
          <a:ln w="38100" cap="flat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A7F5ADD9-80C3-230B-B002-D9FD4A1F8FCE}"/>
              </a:ext>
            </a:extLst>
          </p:cNvPr>
          <p:cNvSpPr txBox="1"/>
          <p:nvPr/>
        </p:nvSpPr>
        <p:spPr>
          <a:xfrm>
            <a:off x="13378146" y="781050"/>
            <a:ext cx="3881154" cy="4245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639"/>
              </a:lnSpc>
              <a:spcBef>
                <a:spcPct val="0"/>
              </a:spcBef>
            </a:pPr>
            <a:r>
              <a:rPr lang="ko-KR" altLang="en-US" sz="2599" dirty="0">
                <a:solidFill>
                  <a:srgbClr val="191919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  <a:sym typeface="윤고딕"/>
              </a:rPr>
              <a:t>실행 예시</a:t>
            </a:r>
            <a:endParaRPr lang="en-US" sz="2599" dirty="0">
              <a:solidFill>
                <a:srgbClr val="191919"/>
              </a:solidFill>
              <a:latin typeface="Pretendard Medium" panose="02000503000000020004" pitchFamily="2" charset="-127"/>
              <a:ea typeface="Pretendard Medium" panose="02000503000000020004" pitchFamily="2" charset="-127"/>
              <a:cs typeface="Pretendard Medium" panose="02000503000000020004" pitchFamily="2" charset="-127"/>
              <a:sym typeface="윤고딕"/>
            </a:endParaRP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6D307A18-A485-6D8A-FC0E-05B6B1C9832B}"/>
              </a:ext>
            </a:extLst>
          </p:cNvPr>
          <p:cNvSpPr txBox="1"/>
          <p:nvPr/>
        </p:nvSpPr>
        <p:spPr>
          <a:xfrm>
            <a:off x="381000" y="944123"/>
            <a:ext cx="2929224" cy="7764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6589"/>
              </a:lnSpc>
              <a:spcBef>
                <a:spcPct val="0"/>
              </a:spcBef>
            </a:pPr>
            <a:r>
              <a:rPr lang="ko-KR" altLang="en-US" sz="4706" spc="-65" dirty="0">
                <a:solidFill>
                  <a:srgbClr val="191919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  <a:sym typeface="윤고딕"/>
              </a:rPr>
              <a:t>영화 답변</a:t>
            </a:r>
            <a:endParaRPr lang="en-US" sz="4706" spc="-65" dirty="0">
              <a:solidFill>
                <a:srgbClr val="191919"/>
              </a:solidFill>
              <a:latin typeface="Pretendard Medium" panose="02000503000000020004" pitchFamily="2" charset="-127"/>
              <a:ea typeface="Pretendard Medium" panose="02000503000000020004" pitchFamily="2" charset="-127"/>
              <a:cs typeface="Pretendard Medium" panose="02000503000000020004" pitchFamily="2" charset="-127"/>
              <a:sym typeface="윤고딕"/>
            </a:endParaRPr>
          </a:p>
        </p:txBody>
      </p:sp>
      <p:pic>
        <p:nvPicPr>
          <p:cNvPr id="10" name="그림 9" descr="텍스트, 스크린샷, 웹사이트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CEACA6F-0554-822C-7C5F-0D784242B5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4799" y="2095500"/>
            <a:ext cx="12038400" cy="75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916606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90EF31-1B88-0A48-5783-564034E486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325672E7-4113-FD3A-8724-A5F8F9A718EE}"/>
              </a:ext>
            </a:extLst>
          </p:cNvPr>
          <p:cNvGrpSpPr/>
          <p:nvPr/>
        </p:nvGrpSpPr>
        <p:grpSpPr>
          <a:xfrm>
            <a:off x="-290868" y="10008764"/>
            <a:ext cx="18869735" cy="120011"/>
            <a:chOff x="0" y="0"/>
            <a:chExt cx="4969807" cy="31608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C60C8823-61B2-3D47-75DD-371F974B3346}"/>
                </a:ext>
              </a:extLst>
            </p:cNvPr>
            <p:cNvSpPr/>
            <p:nvPr/>
          </p:nvSpPr>
          <p:spPr>
            <a:xfrm>
              <a:off x="0" y="0"/>
              <a:ext cx="4969807" cy="31608"/>
            </a:xfrm>
            <a:custGeom>
              <a:avLst/>
              <a:gdLst/>
              <a:ahLst/>
              <a:cxnLst/>
              <a:rect l="l" t="t" r="r" b="b"/>
              <a:pathLst>
                <a:path w="4969807" h="31608">
                  <a:moveTo>
                    <a:pt x="0" y="0"/>
                  </a:moveTo>
                  <a:lnTo>
                    <a:pt x="4969807" y="0"/>
                  </a:lnTo>
                  <a:lnTo>
                    <a:pt x="4969807" y="31608"/>
                  </a:lnTo>
                  <a:lnTo>
                    <a:pt x="0" y="31608"/>
                  </a:lnTo>
                  <a:close/>
                </a:path>
              </a:pathLst>
            </a:custGeom>
            <a:solidFill>
              <a:srgbClr val="191919"/>
            </a:solidFill>
            <a:ln w="19050" cap="sq">
              <a:solidFill>
                <a:srgbClr val="191919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6826F244-D380-97A1-CA9E-FB3588C1A3B3}"/>
                </a:ext>
              </a:extLst>
            </p:cNvPr>
            <p:cNvSpPr txBox="1"/>
            <p:nvPr/>
          </p:nvSpPr>
          <p:spPr>
            <a:xfrm>
              <a:off x="0" y="-47625"/>
              <a:ext cx="4969807" cy="792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AutoShape 5">
            <a:extLst>
              <a:ext uri="{FF2B5EF4-FFF2-40B4-BE49-F238E27FC236}">
                <a16:creationId xmlns:a16="http://schemas.microsoft.com/office/drawing/2014/main" id="{DF99CA8C-FC49-FACC-D313-ADB5474B0E26}"/>
              </a:ext>
            </a:extLst>
          </p:cNvPr>
          <p:cNvSpPr/>
          <p:nvPr/>
        </p:nvSpPr>
        <p:spPr>
          <a:xfrm>
            <a:off x="0" y="828675"/>
            <a:ext cx="3276389" cy="0"/>
          </a:xfrm>
          <a:prstGeom prst="line">
            <a:avLst/>
          </a:prstGeom>
          <a:ln w="38100" cap="flat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8FB8EAD5-084F-DD5A-A1F5-B0D73A4D933C}"/>
              </a:ext>
            </a:extLst>
          </p:cNvPr>
          <p:cNvSpPr txBox="1"/>
          <p:nvPr/>
        </p:nvSpPr>
        <p:spPr>
          <a:xfrm>
            <a:off x="13378146" y="781050"/>
            <a:ext cx="3881154" cy="4245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639"/>
              </a:lnSpc>
              <a:spcBef>
                <a:spcPct val="0"/>
              </a:spcBef>
            </a:pPr>
            <a:r>
              <a:rPr lang="ko-KR" altLang="en-US" sz="2599" dirty="0">
                <a:solidFill>
                  <a:srgbClr val="191919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  <a:sym typeface="윤고딕"/>
              </a:rPr>
              <a:t>실행 예시</a:t>
            </a:r>
            <a:endParaRPr lang="en-US" sz="2599" dirty="0">
              <a:solidFill>
                <a:srgbClr val="191919"/>
              </a:solidFill>
              <a:latin typeface="Pretendard Medium" panose="02000503000000020004" pitchFamily="2" charset="-127"/>
              <a:ea typeface="Pretendard Medium" panose="02000503000000020004" pitchFamily="2" charset="-127"/>
              <a:cs typeface="Pretendard Medium" panose="02000503000000020004" pitchFamily="2" charset="-127"/>
              <a:sym typeface="윤고딕"/>
            </a:endParaRP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6D0395CB-FEB6-1FF2-0D12-02EB1B0044C2}"/>
              </a:ext>
            </a:extLst>
          </p:cNvPr>
          <p:cNvSpPr txBox="1"/>
          <p:nvPr/>
        </p:nvSpPr>
        <p:spPr>
          <a:xfrm>
            <a:off x="381000" y="944123"/>
            <a:ext cx="2929224" cy="7764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6589"/>
              </a:lnSpc>
              <a:spcBef>
                <a:spcPct val="0"/>
              </a:spcBef>
            </a:pPr>
            <a:r>
              <a:rPr lang="ko-KR" altLang="en-US" sz="4706" spc="-65" dirty="0">
                <a:solidFill>
                  <a:srgbClr val="191919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  <a:sym typeface="윤고딕"/>
              </a:rPr>
              <a:t>영화 카드</a:t>
            </a:r>
            <a:endParaRPr lang="en-US" sz="4706" spc="-65" dirty="0">
              <a:solidFill>
                <a:srgbClr val="191919"/>
              </a:solidFill>
              <a:latin typeface="Pretendard Medium" panose="02000503000000020004" pitchFamily="2" charset="-127"/>
              <a:ea typeface="Pretendard Medium" panose="02000503000000020004" pitchFamily="2" charset="-127"/>
              <a:cs typeface="Pretendard Medium" panose="02000503000000020004" pitchFamily="2" charset="-127"/>
              <a:sym typeface="윤고딕"/>
            </a:endParaRPr>
          </a:p>
        </p:txBody>
      </p:sp>
      <p:pic>
        <p:nvPicPr>
          <p:cNvPr id="9" name="그림 8" descr="텍스트, 스크린샷, 웹사이트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6C3D53E-72B3-BD9A-19F6-033588B049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4798" y="1943221"/>
            <a:ext cx="12038402" cy="7524000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3E78BCA8-9CF0-3A09-A0D4-96816AAF01D7}"/>
              </a:ext>
            </a:extLst>
          </p:cNvPr>
          <p:cNvSpPr/>
          <p:nvPr/>
        </p:nvSpPr>
        <p:spPr>
          <a:xfrm>
            <a:off x="5334000" y="5524500"/>
            <a:ext cx="1143000" cy="2286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7A8CFD74-30E2-EE9B-07D5-BFB4E2DFEAC3}"/>
              </a:ext>
            </a:extLst>
          </p:cNvPr>
          <p:cNvSpPr/>
          <p:nvPr/>
        </p:nvSpPr>
        <p:spPr>
          <a:xfrm>
            <a:off x="13258800" y="2857500"/>
            <a:ext cx="1828800" cy="6096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590251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A5C73F-A2CC-D45D-B36B-6B0EC79DD9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25E6EC83-C723-F057-8060-BA26959F627C}"/>
              </a:ext>
            </a:extLst>
          </p:cNvPr>
          <p:cNvGrpSpPr/>
          <p:nvPr/>
        </p:nvGrpSpPr>
        <p:grpSpPr>
          <a:xfrm>
            <a:off x="-290868" y="10008764"/>
            <a:ext cx="18869735" cy="120011"/>
            <a:chOff x="0" y="0"/>
            <a:chExt cx="4969807" cy="31608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59744B87-4424-7160-607B-CCB9B8F8183D}"/>
                </a:ext>
              </a:extLst>
            </p:cNvPr>
            <p:cNvSpPr/>
            <p:nvPr/>
          </p:nvSpPr>
          <p:spPr>
            <a:xfrm>
              <a:off x="0" y="0"/>
              <a:ext cx="4969807" cy="31608"/>
            </a:xfrm>
            <a:custGeom>
              <a:avLst/>
              <a:gdLst/>
              <a:ahLst/>
              <a:cxnLst/>
              <a:rect l="l" t="t" r="r" b="b"/>
              <a:pathLst>
                <a:path w="4969807" h="31608">
                  <a:moveTo>
                    <a:pt x="0" y="0"/>
                  </a:moveTo>
                  <a:lnTo>
                    <a:pt x="4969807" y="0"/>
                  </a:lnTo>
                  <a:lnTo>
                    <a:pt x="4969807" y="31608"/>
                  </a:lnTo>
                  <a:lnTo>
                    <a:pt x="0" y="31608"/>
                  </a:lnTo>
                  <a:close/>
                </a:path>
              </a:pathLst>
            </a:custGeom>
            <a:solidFill>
              <a:srgbClr val="191919"/>
            </a:solidFill>
            <a:ln w="19050" cap="sq">
              <a:solidFill>
                <a:srgbClr val="191919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D25957AA-C2F9-B217-861A-A860722F060F}"/>
                </a:ext>
              </a:extLst>
            </p:cNvPr>
            <p:cNvSpPr txBox="1"/>
            <p:nvPr/>
          </p:nvSpPr>
          <p:spPr>
            <a:xfrm>
              <a:off x="0" y="-47625"/>
              <a:ext cx="4969807" cy="792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AutoShape 5">
            <a:extLst>
              <a:ext uri="{FF2B5EF4-FFF2-40B4-BE49-F238E27FC236}">
                <a16:creationId xmlns:a16="http://schemas.microsoft.com/office/drawing/2014/main" id="{7FF24EFF-1CD0-CE64-7E95-EFD2AAC5D299}"/>
              </a:ext>
            </a:extLst>
          </p:cNvPr>
          <p:cNvSpPr/>
          <p:nvPr/>
        </p:nvSpPr>
        <p:spPr>
          <a:xfrm>
            <a:off x="0" y="828675"/>
            <a:ext cx="3276389" cy="0"/>
          </a:xfrm>
          <a:prstGeom prst="line">
            <a:avLst/>
          </a:prstGeom>
          <a:ln w="38100" cap="flat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F459CEE1-9D6E-1CA8-7660-FF0474A6481F}"/>
              </a:ext>
            </a:extLst>
          </p:cNvPr>
          <p:cNvSpPr txBox="1"/>
          <p:nvPr/>
        </p:nvSpPr>
        <p:spPr>
          <a:xfrm>
            <a:off x="13378146" y="781050"/>
            <a:ext cx="3881154" cy="4245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639"/>
              </a:lnSpc>
              <a:spcBef>
                <a:spcPct val="0"/>
              </a:spcBef>
            </a:pPr>
            <a:r>
              <a:rPr lang="ko-KR" altLang="en-US" sz="2599" dirty="0">
                <a:solidFill>
                  <a:srgbClr val="191919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  <a:sym typeface="윤고딕"/>
              </a:rPr>
              <a:t>실행 예시</a:t>
            </a:r>
            <a:endParaRPr lang="en-US" sz="2599" dirty="0">
              <a:solidFill>
                <a:srgbClr val="191919"/>
              </a:solidFill>
              <a:latin typeface="Pretendard Medium" panose="02000503000000020004" pitchFamily="2" charset="-127"/>
              <a:ea typeface="Pretendard Medium" panose="02000503000000020004" pitchFamily="2" charset="-127"/>
              <a:cs typeface="Pretendard Medium" panose="02000503000000020004" pitchFamily="2" charset="-127"/>
              <a:sym typeface="윤고딕"/>
            </a:endParaRP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DDEC406E-3413-1490-BB97-2BE77E1CCABC}"/>
              </a:ext>
            </a:extLst>
          </p:cNvPr>
          <p:cNvSpPr txBox="1"/>
          <p:nvPr/>
        </p:nvSpPr>
        <p:spPr>
          <a:xfrm>
            <a:off x="381000" y="944123"/>
            <a:ext cx="2929224" cy="7764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6589"/>
              </a:lnSpc>
              <a:spcBef>
                <a:spcPct val="0"/>
              </a:spcBef>
            </a:pPr>
            <a:r>
              <a:rPr lang="ko-KR" altLang="en-US" sz="4706" spc="-65" dirty="0">
                <a:solidFill>
                  <a:srgbClr val="191919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  <a:sym typeface="윤고딕"/>
              </a:rPr>
              <a:t>영화 카드</a:t>
            </a:r>
            <a:endParaRPr lang="en-US" sz="4706" spc="-65" dirty="0">
              <a:solidFill>
                <a:srgbClr val="191919"/>
              </a:solidFill>
              <a:latin typeface="Pretendard Medium" panose="02000503000000020004" pitchFamily="2" charset="-127"/>
              <a:ea typeface="Pretendard Medium" panose="02000503000000020004" pitchFamily="2" charset="-127"/>
              <a:cs typeface="Pretendard Medium" panose="02000503000000020004" pitchFamily="2" charset="-127"/>
              <a:sym typeface="윤고딕"/>
            </a:endParaRPr>
          </a:p>
        </p:txBody>
      </p:sp>
      <p:pic>
        <p:nvPicPr>
          <p:cNvPr id="11" name="그림 10" descr="텍스트, 스크린샷, 웹사이트, 웹 페이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0B5DF09-1D5D-CB38-4FF0-DAC542A472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4800" y="1934325"/>
            <a:ext cx="12038400" cy="75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480677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ED44C0-C572-F8C8-7EA0-7BFE15025F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94831F5F-AA34-5FF6-5C86-FCDE8615EEB6}"/>
              </a:ext>
            </a:extLst>
          </p:cNvPr>
          <p:cNvGrpSpPr/>
          <p:nvPr/>
        </p:nvGrpSpPr>
        <p:grpSpPr>
          <a:xfrm>
            <a:off x="-290868" y="10008764"/>
            <a:ext cx="18869735" cy="120011"/>
            <a:chOff x="0" y="0"/>
            <a:chExt cx="4969807" cy="31608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29D32D05-1906-9D59-3F28-D553F13FD2D7}"/>
                </a:ext>
              </a:extLst>
            </p:cNvPr>
            <p:cNvSpPr/>
            <p:nvPr/>
          </p:nvSpPr>
          <p:spPr>
            <a:xfrm>
              <a:off x="0" y="0"/>
              <a:ext cx="4969807" cy="31608"/>
            </a:xfrm>
            <a:custGeom>
              <a:avLst/>
              <a:gdLst/>
              <a:ahLst/>
              <a:cxnLst/>
              <a:rect l="l" t="t" r="r" b="b"/>
              <a:pathLst>
                <a:path w="4969807" h="31608">
                  <a:moveTo>
                    <a:pt x="0" y="0"/>
                  </a:moveTo>
                  <a:lnTo>
                    <a:pt x="4969807" y="0"/>
                  </a:lnTo>
                  <a:lnTo>
                    <a:pt x="4969807" y="31608"/>
                  </a:lnTo>
                  <a:lnTo>
                    <a:pt x="0" y="31608"/>
                  </a:lnTo>
                  <a:close/>
                </a:path>
              </a:pathLst>
            </a:custGeom>
            <a:solidFill>
              <a:srgbClr val="191919"/>
            </a:solidFill>
            <a:ln w="19050" cap="sq">
              <a:solidFill>
                <a:srgbClr val="191919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BC40346B-BF20-8103-38D3-6BBC1B168593}"/>
                </a:ext>
              </a:extLst>
            </p:cNvPr>
            <p:cNvSpPr txBox="1"/>
            <p:nvPr/>
          </p:nvSpPr>
          <p:spPr>
            <a:xfrm>
              <a:off x="0" y="-47625"/>
              <a:ext cx="4969807" cy="792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AutoShape 5">
            <a:extLst>
              <a:ext uri="{FF2B5EF4-FFF2-40B4-BE49-F238E27FC236}">
                <a16:creationId xmlns:a16="http://schemas.microsoft.com/office/drawing/2014/main" id="{252CDF45-928A-D8A7-79ED-9092106198C7}"/>
              </a:ext>
            </a:extLst>
          </p:cNvPr>
          <p:cNvSpPr/>
          <p:nvPr/>
        </p:nvSpPr>
        <p:spPr>
          <a:xfrm>
            <a:off x="0" y="828675"/>
            <a:ext cx="3276389" cy="0"/>
          </a:xfrm>
          <a:prstGeom prst="line">
            <a:avLst/>
          </a:prstGeom>
          <a:ln w="38100" cap="flat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70726C15-4769-C3DB-AD32-D29F7C70DF6D}"/>
              </a:ext>
            </a:extLst>
          </p:cNvPr>
          <p:cNvSpPr txBox="1"/>
          <p:nvPr/>
        </p:nvSpPr>
        <p:spPr>
          <a:xfrm>
            <a:off x="13378146" y="781050"/>
            <a:ext cx="3881154" cy="4245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639"/>
              </a:lnSpc>
              <a:spcBef>
                <a:spcPct val="0"/>
              </a:spcBef>
            </a:pPr>
            <a:r>
              <a:rPr lang="ko-KR" altLang="en-US" sz="2599" dirty="0">
                <a:solidFill>
                  <a:srgbClr val="191919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  <a:sym typeface="윤고딕"/>
              </a:rPr>
              <a:t>실행 예시</a:t>
            </a:r>
            <a:endParaRPr lang="en-US" sz="2599" dirty="0">
              <a:solidFill>
                <a:srgbClr val="191919"/>
              </a:solidFill>
              <a:latin typeface="Pretendard Medium" panose="02000503000000020004" pitchFamily="2" charset="-127"/>
              <a:ea typeface="Pretendard Medium" panose="02000503000000020004" pitchFamily="2" charset="-127"/>
              <a:cs typeface="Pretendard Medium" panose="02000503000000020004" pitchFamily="2" charset="-127"/>
              <a:sym typeface="윤고딕"/>
            </a:endParaRP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DAF27AA4-B038-8BFA-8AAF-D4D1335ED371}"/>
              </a:ext>
            </a:extLst>
          </p:cNvPr>
          <p:cNvSpPr txBox="1"/>
          <p:nvPr/>
        </p:nvSpPr>
        <p:spPr>
          <a:xfrm>
            <a:off x="381000" y="944123"/>
            <a:ext cx="2929224" cy="7764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6589"/>
              </a:lnSpc>
              <a:spcBef>
                <a:spcPct val="0"/>
              </a:spcBef>
            </a:pPr>
            <a:r>
              <a:rPr lang="ko-KR" altLang="en-US" sz="4706" spc="-65" dirty="0">
                <a:solidFill>
                  <a:srgbClr val="191919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  <a:sym typeface="윤고딕"/>
              </a:rPr>
              <a:t>영화 카드</a:t>
            </a:r>
            <a:endParaRPr lang="en-US" sz="4706" spc="-65" dirty="0">
              <a:solidFill>
                <a:srgbClr val="191919"/>
              </a:solidFill>
              <a:latin typeface="Pretendard Medium" panose="02000503000000020004" pitchFamily="2" charset="-127"/>
              <a:ea typeface="Pretendard Medium" panose="02000503000000020004" pitchFamily="2" charset="-127"/>
              <a:cs typeface="Pretendard Medium" panose="02000503000000020004" pitchFamily="2" charset="-127"/>
              <a:sym typeface="윤고딕"/>
            </a:endParaRPr>
          </a:p>
        </p:txBody>
      </p:sp>
      <p:pic>
        <p:nvPicPr>
          <p:cNvPr id="7" name="그림 6" descr="텍스트, 스크린샷, 웹사이트, 웹 페이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43969ED-E9E3-77B5-2C88-03CA30A51A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4799" y="1943221"/>
            <a:ext cx="12038400" cy="75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354095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B99C89-CB0A-7628-3E26-44E4905880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3067C6D7-AB09-176B-6D5C-F94B89A248FE}"/>
              </a:ext>
            </a:extLst>
          </p:cNvPr>
          <p:cNvGrpSpPr/>
          <p:nvPr/>
        </p:nvGrpSpPr>
        <p:grpSpPr>
          <a:xfrm>
            <a:off x="-290868" y="10008764"/>
            <a:ext cx="18869735" cy="120011"/>
            <a:chOff x="0" y="0"/>
            <a:chExt cx="4969807" cy="31608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1AD1B189-80AA-351F-EDE5-B8690A19FE2C}"/>
                </a:ext>
              </a:extLst>
            </p:cNvPr>
            <p:cNvSpPr/>
            <p:nvPr/>
          </p:nvSpPr>
          <p:spPr>
            <a:xfrm>
              <a:off x="0" y="0"/>
              <a:ext cx="4969807" cy="31608"/>
            </a:xfrm>
            <a:custGeom>
              <a:avLst/>
              <a:gdLst/>
              <a:ahLst/>
              <a:cxnLst/>
              <a:rect l="l" t="t" r="r" b="b"/>
              <a:pathLst>
                <a:path w="4969807" h="31608">
                  <a:moveTo>
                    <a:pt x="0" y="0"/>
                  </a:moveTo>
                  <a:lnTo>
                    <a:pt x="4969807" y="0"/>
                  </a:lnTo>
                  <a:lnTo>
                    <a:pt x="4969807" y="31608"/>
                  </a:lnTo>
                  <a:lnTo>
                    <a:pt x="0" y="31608"/>
                  </a:lnTo>
                  <a:close/>
                </a:path>
              </a:pathLst>
            </a:custGeom>
            <a:solidFill>
              <a:srgbClr val="191919"/>
            </a:solidFill>
            <a:ln w="19050" cap="sq">
              <a:solidFill>
                <a:srgbClr val="191919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B1A28495-2EBF-022F-0F7C-06D72C72ED40}"/>
                </a:ext>
              </a:extLst>
            </p:cNvPr>
            <p:cNvSpPr txBox="1"/>
            <p:nvPr/>
          </p:nvSpPr>
          <p:spPr>
            <a:xfrm>
              <a:off x="0" y="-47625"/>
              <a:ext cx="4969807" cy="792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AutoShape 5">
            <a:extLst>
              <a:ext uri="{FF2B5EF4-FFF2-40B4-BE49-F238E27FC236}">
                <a16:creationId xmlns:a16="http://schemas.microsoft.com/office/drawing/2014/main" id="{2B7FAB32-F341-1119-4C9C-54F0817987EE}"/>
              </a:ext>
            </a:extLst>
          </p:cNvPr>
          <p:cNvSpPr/>
          <p:nvPr/>
        </p:nvSpPr>
        <p:spPr>
          <a:xfrm>
            <a:off x="0" y="828675"/>
            <a:ext cx="3276389" cy="0"/>
          </a:xfrm>
          <a:prstGeom prst="line">
            <a:avLst/>
          </a:prstGeom>
          <a:ln w="38100" cap="flat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27CAF643-9ADE-8AF8-175E-48F8AD343C7A}"/>
              </a:ext>
            </a:extLst>
          </p:cNvPr>
          <p:cNvSpPr txBox="1"/>
          <p:nvPr/>
        </p:nvSpPr>
        <p:spPr>
          <a:xfrm>
            <a:off x="13378146" y="781050"/>
            <a:ext cx="3881154" cy="4245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639"/>
              </a:lnSpc>
              <a:spcBef>
                <a:spcPct val="0"/>
              </a:spcBef>
            </a:pPr>
            <a:r>
              <a:rPr lang="ko-KR" altLang="en-US" sz="2599" dirty="0">
                <a:solidFill>
                  <a:srgbClr val="191919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  <a:sym typeface="윤고딕"/>
              </a:rPr>
              <a:t>실행 예시</a:t>
            </a:r>
            <a:endParaRPr lang="en-US" sz="2599" dirty="0">
              <a:solidFill>
                <a:srgbClr val="191919"/>
              </a:solidFill>
              <a:latin typeface="Pretendard Medium" panose="02000503000000020004" pitchFamily="2" charset="-127"/>
              <a:ea typeface="Pretendard Medium" panose="02000503000000020004" pitchFamily="2" charset="-127"/>
              <a:cs typeface="Pretendard Medium" panose="02000503000000020004" pitchFamily="2" charset="-127"/>
              <a:sym typeface="윤고딕"/>
            </a:endParaRP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6A193D17-8FE4-4671-1F99-6031A796D875}"/>
              </a:ext>
            </a:extLst>
          </p:cNvPr>
          <p:cNvSpPr txBox="1"/>
          <p:nvPr/>
        </p:nvSpPr>
        <p:spPr>
          <a:xfrm>
            <a:off x="381000" y="944123"/>
            <a:ext cx="2929224" cy="7764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6589"/>
              </a:lnSpc>
              <a:spcBef>
                <a:spcPct val="0"/>
              </a:spcBef>
            </a:pPr>
            <a:r>
              <a:rPr lang="en-US" sz="4706" spc="-65" dirty="0">
                <a:solidFill>
                  <a:srgbClr val="191919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  <a:sym typeface="윤고딕"/>
              </a:rPr>
              <a:t> </a:t>
            </a:r>
            <a:r>
              <a:rPr lang="ko-KR" altLang="en-US" sz="4706" spc="-65" dirty="0">
                <a:solidFill>
                  <a:srgbClr val="191919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  <a:sym typeface="윤고딕"/>
              </a:rPr>
              <a:t>오타 수정</a:t>
            </a:r>
            <a:endParaRPr lang="en-US" sz="4706" spc="-65" dirty="0">
              <a:solidFill>
                <a:srgbClr val="191919"/>
              </a:solidFill>
              <a:latin typeface="Pretendard Medium" panose="02000503000000020004" pitchFamily="2" charset="-127"/>
              <a:ea typeface="Pretendard Medium" panose="02000503000000020004" pitchFamily="2" charset="-127"/>
              <a:cs typeface="Pretendard Medium" panose="02000503000000020004" pitchFamily="2" charset="-127"/>
              <a:sym typeface="윤고딕"/>
            </a:endParaRPr>
          </a:p>
        </p:txBody>
      </p:sp>
      <p:pic>
        <p:nvPicPr>
          <p:cNvPr id="7" name="그림 6" descr="텍스트, 스크린샷, 소프트웨어, 웹 페이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4F89CD7-78F2-9108-E2C7-CC5530E0201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250" t="4284" r="15819" b="25835"/>
          <a:stretch>
            <a:fillRect/>
          </a:stretch>
        </p:blipFill>
        <p:spPr>
          <a:xfrm>
            <a:off x="2857500" y="2281299"/>
            <a:ext cx="12573000" cy="7169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15128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8AA0E3-B934-B050-8125-7AD1E20ED8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그림 13" descr="텍스트, 컴퓨터, 스크린샷, 웹사이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7C72CC5-D85B-27CC-A17E-AEE966FA10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4799" y="2102358"/>
            <a:ext cx="12038400" cy="7524000"/>
          </a:xfrm>
          <a:prstGeom prst="rect">
            <a:avLst/>
          </a:prstGeom>
        </p:spPr>
      </p:pic>
      <p:grpSp>
        <p:nvGrpSpPr>
          <p:cNvPr id="2" name="Group 2">
            <a:extLst>
              <a:ext uri="{FF2B5EF4-FFF2-40B4-BE49-F238E27FC236}">
                <a16:creationId xmlns:a16="http://schemas.microsoft.com/office/drawing/2014/main" id="{FE57F41B-9987-A667-09F9-8F7CCE6EF344}"/>
              </a:ext>
            </a:extLst>
          </p:cNvPr>
          <p:cNvGrpSpPr/>
          <p:nvPr/>
        </p:nvGrpSpPr>
        <p:grpSpPr>
          <a:xfrm>
            <a:off x="-290868" y="10008764"/>
            <a:ext cx="18869735" cy="120011"/>
            <a:chOff x="0" y="0"/>
            <a:chExt cx="4969807" cy="31608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8D31133A-FC61-1A45-B741-40E4E6BD4381}"/>
                </a:ext>
              </a:extLst>
            </p:cNvPr>
            <p:cNvSpPr/>
            <p:nvPr/>
          </p:nvSpPr>
          <p:spPr>
            <a:xfrm>
              <a:off x="0" y="0"/>
              <a:ext cx="4969807" cy="31608"/>
            </a:xfrm>
            <a:custGeom>
              <a:avLst/>
              <a:gdLst/>
              <a:ahLst/>
              <a:cxnLst/>
              <a:rect l="l" t="t" r="r" b="b"/>
              <a:pathLst>
                <a:path w="4969807" h="31608">
                  <a:moveTo>
                    <a:pt x="0" y="0"/>
                  </a:moveTo>
                  <a:lnTo>
                    <a:pt x="4969807" y="0"/>
                  </a:lnTo>
                  <a:lnTo>
                    <a:pt x="4969807" y="31608"/>
                  </a:lnTo>
                  <a:lnTo>
                    <a:pt x="0" y="31608"/>
                  </a:lnTo>
                  <a:close/>
                </a:path>
              </a:pathLst>
            </a:custGeom>
            <a:solidFill>
              <a:srgbClr val="191919"/>
            </a:solidFill>
            <a:ln w="19050" cap="sq">
              <a:solidFill>
                <a:srgbClr val="191919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1D61F651-96B7-8072-F41B-76002B20CC81}"/>
                </a:ext>
              </a:extLst>
            </p:cNvPr>
            <p:cNvSpPr txBox="1"/>
            <p:nvPr/>
          </p:nvSpPr>
          <p:spPr>
            <a:xfrm>
              <a:off x="0" y="-47625"/>
              <a:ext cx="4969807" cy="792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AutoShape 5">
            <a:extLst>
              <a:ext uri="{FF2B5EF4-FFF2-40B4-BE49-F238E27FC236}">
                <a16:creationId xmlns:a16="http://schemas.microsoft.com/office/drawing/2014/main" id="{1D792B5F-66C8-037D-F18D-3B0DEF390BCF}"/>
              </a:ext>
            </a:extLst>
          </p:cNvPr>
          <p:cNvSpPr/>
          <p:nvPr/>
        </p:nvSpPr>
        <p:spPr>
          <a:xfrm>
            <a:off x="0" y="828675"/>
            <a:ext cx="3276389" cy="0"/>
          </a:xfrm>
          <a:prstGeom prst="line">
            <a:avLst/>
          </a:prstGeom>
          <a:ln w="38100" cap="flat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FCD080B2-60B1-770A-95CB-A5764231DE63}"/>
              </a:ext>
            </a:extLst>
          </p:cNvPr>
          <p:cNvSpPr txBox="1"/>
          <p:nvPr/>
        </p:nvSpPr>
        <p:spPr>
          <a:xfrm>
            <a:off x="13378146" y="781050"/>
            <a:ext cx="3881154" cy="4245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639"/>
              </a:lnSpc>
              <a:spcBef>
                <a:spcPct val="0"/>
              </a:spcBef>
            </a:pPr>
            <a:r>
              <a:rPr lang="ko-KR" altLang="en-US" sz="2599" dirty="0">
                <a:solidFill>
                  <a:srgbClr val="191919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  <a:sym typeface="윤고딕"/>
              </a:rPr>
              <a:t>실행 예시</a:t>
            </a:r>
            <a:endParaRPr lang="en-US" sz="2599" dirty="0">
              <a:solidFill>
                <a:srgbClr val="191919"/>
              </a:solidFill>
              <a:latin typeface="Pretendard Medium" panose="02000503000000020004" pitchFamily="2" charset="-127"/>
              <a:ea typeface="Pretendard Medium" panose="02000503000000020004" pitchFamily="2" charset="-127"/>
              <a:cs typeface="Pretendard Medium" panose="02000503000000020004" pitchFamily="2" charset="-127"/>
              <a:sym typeface="윤고딕"/>
            </a:endParaRP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4F97A6BF-4E4F-1E00-6381-778CC45C6D41}"/>
              </a:ext>
            </a:extLst>
          </p:cNvPr>
          <p:cNvSpPr txBox="1"/>
          <p:nvPr/>
        </p:nvSpPr>
        <p:spPr>
          <a:xfrm>
            <a:off x="381000" y="944123"/>
            <a:ext cx="2929224" cy="7764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6589"/>
              </a:lnSpc>
              <a:spcBef>
                <a:spcPct val="0"/>
              </a:spcBef>
            </a:pPr>
            <a:r>
              <a:rPr lang="ko-KR" altLang="en-US" sz="4706" spc="-65" dirty="0">
                <a:solidFill>
                  <a:srgbClr val="191919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  <a:sym typeface="윤고딕"/>
              </a:rPr>
              <a:t>공연 답변</a:t>
            </a:r>
            <a:endParaRPr lang="en-US" sz="4706" spc="-65" dirty="0">
              <a:solidFill>
                <a:srgbClr val="191919"/>
              </a:solidFill>
              <a:latin typeface="Pretendard Medium" panose="02000503000000020004" pitchFamily="2" charset="-127"/>
              <a:ea typeface="Pretendard Medium" panose="02000503000000020004" pitchFamily="2" charset="-127"/>
              <a:cs typeface="Pretendard Medium" panose="02000503000000020004" pitchFamily="2" charset="-127"/>
              <a:sym typeface="윤고딕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BD024EC3-29DC-9A16-A586-73AA3D9196E3}"/>
              </a:ext>
            </a:extLst>
          </p:cNvPr>
          <p:cNvSpPr/>
          <p:nvPr/>
        </p:nvSpPr>
        <p:spPr>
          <a:xfrm>
            <a:off x="5410200" y="8039100"/>
            <a:ext cx="1447800" cy="3048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36F31B90-E8A9-F70E-03E9-1EC84CAD2C92}"/>
              </a:ext>
            </a:extLst>
          </p:cNvPr>
          <p:cNvSpPr/>
          <p:nvPr/>
        </p:nvSpPr>
        <p:spPr>
          <a:xfrm>
            <a:off x="13258800" y="3009900"/>
            <a:ext cx="1752600" cy="6096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7916548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3CD28-952B-DA13-403F-945BF72472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826A3C65-87DB-047F-0A3B-25E3D67CE6E6}"/>
              </a:ext>
            </a:extLst>
          </p:cNvPr>
          <p:cNvGrpSpPr/>
          <p:nvPr/>
        </p:nvGrpSpPr>
        <p:grpSpPr>
          <a:xfrm>
            <a:off x="-290868" y="10008764"/>
            <a:ext cx="18869735" cy="120011"/>
            <a:chOff x="0" y="0"/>
            <a:chExt cx="4969807" cy="31608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ADEB1A3-F823-E01E-D591-A9507372B27E}"/>
                </a:ext>
              </a:extLst>
            </p:cNvPr>
            <p:cNvSpPr/>
            <p:nvPr/>
          </p:nvSpPr>
          <p:spPr>
            <a:xfrm>
              <a:off x="0" y="0"/>
              <a:ext cx="4969807" cy="31608"/>
            </a:xfrm>
            <a:custGeom>
              <a:avLst/>
              <a:gdLst/>
              <a:ahLst/>
              <a:cxnLst/>
              <a:rect l="l" t="t" r="r" b="b"/>
              <a:pathLst>
                <a:path w="4969807" h="31608">
                  <a:moveTo>
                    <a:pt x="0" y="0"/>
                  </a:moveTo>
                  <a:lnTo>
                    <a:pt x="4969807" y="0"/>
                  </a:lnTo>
                  <a:lnTo>
                    <a:pt x="4969807" y="31608"/>
                  </a:lnTo>
                  <a:lnTo>
                    <a:pt x="0" y="31608"/>
                  </a:lnTo>
                  <a:close/>
                </a:path>
              </a:pathLst>
            </a:custGeom>
            <a:solidFill>
              <a:srgbClr val="191919"/>
            </a:solidFill>
            <a:ln w="19050" cap="sq">
              <a:solidFill>
                <a:srgbClr val="191919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B419314F-02F7-E397-8943-BCEE1E6AC642}"/>
                </a:ext>
              </a:extLst>
            </p:cNvPr>
            <p:cNvSpPr txBox="1"/>
            <p:nvPr/>
          </p:nvSpPr>
          <p:spPr>
            <a:xfrm>
              <a:off x="0" y="-47625"/>
              <a:ext cx="4969807" cy="792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AutoShape 5">
            <a:extLst>
              <a:ext uri="{FF2B5EF4-FFF2-40B4-BE49-F238E27FC236}">
                <a16:creationId xmlns:a16="http://schemas.microsoft.com/office/drawing/2014/main" id="{86B889FB-8CA4-F7E1-8840-B2998E34F9B3}"/>
              </a:ext>
            </a:extLst>
          </p:cNvPr>
          <p:cNvSpPr/>
          <p:nvPr/>
        </p:nvSpPr>
        <p:spPr>
          <a:xfrm>
            <a:off x="0" y="828675"/>
            <a:ext cx="3276389" cy="0"/>
          </a:xfrm>
          <a:prstGeom prst="line">
            <a:avLst/>
          </a:prstGeom>
          <a:ln w="38100" cap="flat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BE134653-BD07-3D4F-D77A-CFC8AA81B20F}"/>
              </a:ext>
            </a:extLst>
          </p:cNvPr>
          <p:cNvSpPr txBox="1"/>
          <p:nvPr/>
        </p:nvSpPr>
        <p:spPr>
          <a:xfrm>
            <a:off x="13378146" y="781050"/>
            <a:ext cx="3881154" cy="4245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639"/>
              </a:lnSpc>
              <a:spcBef>
                <a:spcPct val="0"/>
              </a:spcBef>
            </a:pPr>
            <a:r>
              <a:rPr lang="ko-KR" altLang="en-US" sz="2599" dirty="0">
                <a:solidFill>
                  <a:srgbClr val="191919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  <a:sym typeface="윤고딕"/>
              </a:rPr>
              <a:t>실행 예시</a:t>
            </a:r>
            <a:endParaRPr lang="en-US" sz="2599" dirty="0">
              <a:solidFill>
                <a:srgbClr val="191919"/>
              </a:solidFill>
              <a:latin typeface="Pretendard Medium" panose="02000503000000020004" pitchFamily="2" charset="-127"/>
              <a:ea typeface="Pretendard Medium" panose="02000503000000020004" pitchFamily="2" charset="-127"/>
              <a:cs typeface="Pretendard Medium" panose="02000503000000020004" pitchFamily="2" charset="-127"/>
              <a:sym typeface="윤고딕"/>
            </a:endParaRP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76DCE4CB-C6FA-1EAB-3142-A592922FC163}"/>
              </a:ext>
            </a:extLst>
          </p:cNvPr>
          <p:cNvSpPr txBox="1"/>
          <p:nvPr/>
        </p:nvSpPr>
        <p:spPr>
          <a:xfrm>
            <a:off x="381000" y="944123"/>
            <a:ext cx="2929224" cy="7764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6589"/>
              </a:lnSpc>
              <a:spcBef>
                <a:spcPct val="0"/>
              </a:spcBef>
            </a:pPr>
            <a:r>
              <a:rPr lang="ko-KR" altLang="en-US" sz="4706" spc="-65" dirty="0">
                <a:solidFill>
                  <a:srgbClr val="191919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  <a:sym typeface="윤고딕"/>
              </a:rPr>
              <a:t>공연 카드</a:t>
            </a:r>
            <a:endParaRPr lang="en-US" sz="4706" spc="-65" dirty="0">
              <a:solidFill>
                <a:srgbClr val="191919"/>
              </a:solidFill>
              <a:latin typeface="Pretendard Medium" panose="02000503000000020004" pitchFamily="2" charset="-127"/>
              <a:ea typeface="Pretendard Medium" panose="02000503000000020004" pitchFamily="2" charset="-127"/>
              <a:cs typeface="Pretendard Medium" panose="02000503000000020004" pitchFamily="2" charset="-127"/>
              <a:sym typeface="윤고딕"/>
            </a:endParaRPr>
          </a:p>
        </p:txBody>
      </p:sp>
      <p:pic>
        <p:nvPicPr>
          <p:cNvPr id="8" name="그림 7" descr="텍스트, 스크린샷, 소프트웨어, 운영 체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B273E2F-AD9F-C765-2677-9C72A87BD1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4799" y="1927025"/>
            <a:ext cx="12038400" cy="7524000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CB48D25E-77A9-B3DB-DC18-795030E4431C}"/>
              </a:ext>
            </a:extLst>
          </p:cNvPr>
          <p:cNvSpPr/>
          <p:nvPr/>
        </p:nvSpPr>
        <p:spPr>
          <a:xfrm>
            <a:off x="10591800" y="7734300"/>
            <a:ext cx="914400" cy="381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2297600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CA1D99-0BA8-D976-05B7-5DD54CFF80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98EA9574-B20B-C6B2-2E88-301E8733B473}"/>
              </a:ext>
            </a:extLst>
          </p:cNvPr>
          <p:cNvGrpSpPr/>
          <p:nvPr/>
        </p:nvGrpSpPr>
        <p:grpSpPr>
          <a:xfrm>
            <a:off x="-290868" y="10008764"/>
            <a:ext cx="18869735" cy="120011"/>
            <a:chOff x="0" y="0"/>
            <a:chExt cx="4969807" cy="31608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6FA0AE62-01E7-5567-25FB-6AF7E9888403}"/>
                </a:ext>
              </a:extLst>
            </p:cNvPr>
            <p:cNvSpPr/>
            <p:nvPr/>
          </p:nvSpPr>
          <p:spPr>
            <a:xfrm>
              <a:off x="0" y="0"/>
              <a:ext cx="4969807" cy="31608"/>
            </a:xfrm>
            <a:custGeom>
              <a:avLst/>
              <a:gdLst/>
              <a:ahLst/>
              <a:cxnLst/>
              <a:rect l="l" t="t" r="r" b="b"/>
              <a:pathLst>
                <a:path w="4969807" h="31608">
                  <a:moveTo>
                    <a:pt x="0" y="0"/>
                  </a:moveTo>
                  <a:lnTo>
                    <a:pt x="4969807" y="0"/>
                  </a:lnTo>
                  <a:lnTo>
                    <a:pt x="4969807" y="31608"/>
                  </a:lnTo>
                  <a:lnTo>
                    <a:pt x="0" y="31608"/>
                  </a:lnTo>
                  <a:close/>
                </a:path>
              </a:pathLst>
            </a:custGeom>
            <a:solidFill>
              <a:srgbClr val="191919"/>
            </a:solidFill>
            <a:ln w="19050" cap="sq">
              <a:solidFill>
                <a:srgbClr val="191919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E7D10BB6-128B-1BCB-CA7F-1E7CAC873221}"/>
                </a:ext>
              </a:extLst>
            </p:cNvPr>
            <p:cNvSpPr txBox="1"/>
            <p:nvPr/>
          </p:nvSpPr>
          <p:spPr>
            <a:xfrm>
              <a:off x="0" y="-47625"/>
              <a:ext cx="4969807" cy="792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AutoShape 5">
            <a:extLst>
              <a:ext uri="{FF2B5EF4-FFF2-40B4-BE49-F238E27FC236}">
                <a16:creationId xmlns:a16="http://schemas.microsoft.com/office/drawing/2014/main" id="{29286355-52F1-060E-EA67-7A33F77BC746}"/>
              </a:ext>
            </a:extLst>
          </p:cNvPr>
          <p:cNvSpPr/>
          <p:nvPr/>
        </p:nvSpPr>
        <p:spPr>
          <a:xfrm>
            <a:off x="0" y="828675"/>
            <a:ext cx="3276389" cy="0"/>
          </a:xfrm>
          <a:prstGeom prst="line">
            <a:avLst/>
          </a:prstGeom>
          <a:ln w="38100" cap="flat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F2FD22DF-4E69-B5E4-B324-4BCF220087C7}"/>
              </a:ext>
            </a:extLst>
          </p:cNvPr>
          <p:cNvSpPr txBox="1"/>
          <p:nvPr/>
        </p:nvSpPr>
        <p:spPr>
          <a:xfrm>
            <a:off x="13378146" y="781050"/>
            <a:ext cx="3881154" cy="4245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639"/>
              </a:lnSpc>
              <a:spcBef>
                <a:spcPct val="0"/>
              </a:spcBef>
            </a:pPr>
            <a:r>
              <a:rPr lang="ko-KR" altLang="en-US" sz="2599" dirty="0">
                <a:solidFill>
                  <a:srgbClr val="191919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  <a:sym typeface="윤고딕"/>
              </a:rPr>
              <a:t>실행 예시</a:t>
            </a:r>
            <a:endParaRPr lang="en-US" sz="2599" dirty="0">
              <a:solidFill>
                <a:srgbClr val="191919"/>
              </a:solidFill>
              <a:latin typeface="Pretendard Medium" panose="02000503000000020004" pitchFamily="2" charset="-127"/>
              <a:ea typeface="Pretendard Medium" panose="02000503000000020004" pitchFamily="2" charset="-127"/>
              <a:cs typeface="Pretendard Medium" panose="02000503000000020004" pitchFamily="2" charset="-127"/>
              <a:sym typeface="윤고딕"/>
            </a:endParaRP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3561C78E-B044-C1D6-EAA0-FEC4299E996B}"/>
              </a:ext>
            </a:extLst>
          </p:cNvPr>
          <p:cNvSpPr txBox="1"/>
          <p:nvPr/>
        </p:nvSpPr>
        <p:spPr>
          <a:xfrm>
            <a:off x="381000" y="944123"/>
            <a:ext cx="2929224" cy="7764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6589"/>
              </a:lnSpc>
              <a:spcBef>
                <a:spcPct val="0"/>
              </a:spcBef>
            </a:pPr>
            <a:r>
              <a:rPr lang="ko-KR" altLang="en-US" sz="4706" spc="-65" dirty="0">
                <a:solidFill>
                  <a:srgbClr val="191919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  <a:sym typeface="윤고딕"/>
              </a:rPr>
              <a:t>공연 카드</a:t>
            </a:r>
            <a:endParaRPr lang="en-US" sz="4706" spc="-65" dirty="0">
              <a:solidFill>
                <a:srgbClr val="191919"/>
              </a:solidFill>
              <a:latin typeface="Pretendard Medium" panose="02000503000000020004" pitchFamily="2" charset="-127"/>
              <a:ea typeface="Pretendard Medium" panose="02000503000000020004" pitchFamily="2" charset="-127"/>
              <a:cs typeface="Pretendard Medium" panose="02000503000000020004" pitchFamily="2" charset="-127"/>
              <a:sym typeface="윤고딕"/>
            </a:endParaRPr>
          </a:p>
        </p:txBody>
      </p:sp>
      <p:pic>
        <p:nvPicPr>
          <p:cNvPr id="7" name="그림 6" descr="텍스트, 스크린샷, 소프트웨어, 멀티미디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D46F074-43E2-3A1D-4A09-F9E370A341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4799" y="2047330"/>
            <a:ext cx="12038400" cy="75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442142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D9F143-55DC-8637-CED6-BAEF9BC704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21C24D09-C794-D9FD-63C1-1EA05C226D3F}"/>
              </a:ext>
            </a:extLst>
          </p:cNvPr>
          <p:cNvGrpSpPr/>
          <p:nvPr/>
        </p:nvGrpSpPr>
        <p:grpSpPr>
          <a:xfrm>
            <a:off x="-290868" y="10008764"/>
            <a:ext cx="18869735" cy="120011"/>
            <a:chOff x="0" y="0"/>
            <a:chExt cx="4969807" cy="31608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FF64B827-7E8E-5640-20FD-C883EEC91546}"/>
                </a:ext>
              </a:extLst>
            </p:cNvPr>
            <p:cNvSpPr/>
            <p:nvPr/>
          </p:nvSpPr>
          <p:spPr>
            <a:xfrm>
              <a:off x="0" y="0"/>
              <a:ext cx="4969807" cy="31608"/>
            </a:xfrm>
            <a:custGeom>
              <a:avLst/>
              <a:gdLst/>
              <a:ahLst/>
              <a:cxnLst/>
              <a:rect l="l" t="t" r="r" b="b"/>
              <a:pathLst>
                <a:path w="4969807" h="31608">
                  <a:moveTo>
                    <a:pt x="0" y="0"/>
                  </a:moveTo>
                  <a:lnTo>
                    <a:pt x="4969807" y="0"/>
                  </a:lnTo>
                  <a:lnTo>
                    <a:pt x="4969807" y="31608"/>
                  </a:lnTo>
                  <a:lnTo>
                    <a:pt x="0" y="31608"/>
                  </a:lnTo>
                  <a:close/>
                </a:path>
              </a:pathLst>
            </a:custGeom>
            <a:solidFill>
              <a:srgbClr val="191919"/>
            </a:solidFill>
            <a:ln w="19050" cap="sq">
              <a:solidFill>
                <a:srgbClr val="191919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FA6E949F-8FD2-13E1-E06E-03E6E534E23B}"/>
                </a:ext>
              </a:extLst>
            </p:cNvPr>
            <p:cNvSpPr txBox="1"/>
            <p:nvPr/>
          </p:nvSpPr>
          <p:spPr>
            <a:xfrm>
              <a:off x="0" y="-47625"/>
              <a:ext cx="4969807" cy="792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AutoShape 5">
            <a:extLst>
              <a:ext uri="{FF2B5EF4-FFF2-40B4-BE49-F238E27FC236}">
                <a16:creationId xmlns:a16="http://schemas.microsoft.com/office/drawing/2014/main" id="{ECC730F7-AAAE-7D91-FC4C-1875E4F3E723}"/>
              </a:ext>
            </a:extLst>
          </p:cNvPr>
          <p:cNvSpPr/>
          <p:nvPr/>
        </p:nvSpPr>
        <p:spPr>
          <a:xfrm>
            <a:off x="0" y="828675"/>
            <a:ext cx="3276389" cy="0"/>
          </a:xfrm>
          <a:prstGeom prst="line">
            <a:avLst/>
          </a:prstGeom>
          <a:ln w="38100" cap="flat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66451563-28E9-CC31-E764-AB0694BBF419}"/>
              </a:ext>
            </a:extLst>
          </p:cNvPr>
          <p:cNvSpPr txBox="1"/>
          <p:nvPr/>
        </p:nvSpPr>
        <p:spPr>
          <a:xfrm>
            <a:off x="13378146" y="781050"/>
            <a:ext cx="3881154" cy="4245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639"/>
              </a:lnSpc>
              <a:spcBef>
                <a:spcPct val="0"/>
              </a:spcBef>
            </a:pPr>
            <a:r>
              <a:rPr lang="ko-KR" altLang="en-US" sz="2599" dirty="0">
                <a:solidFill>
                  <a:srgbClr val="191919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  <a:sym typeface="윤고딕"/>
              </a:rPr>
              <a:t>실행 예시</a:t>
            </a:r>
            <a:endParaRPr lang="en-US" sz="2599" dirty="0">
              <a:solidFill>
                <a:srgbClr val="191919"/>
              </a:solidFill>
              <a:latin typeface="Pretendard Medium" panose="02000503000000020004" pitchFamily="2" charset="-127"/>
              <a:ea typeface="Pretendard Medium" panose="02000503000000020004" pitchFamily="2" charset="-127"/>
              <a:cs typeface="Pretendard Medium" panose="02000503000000020004" pitchFamily="2" charset="-127"/>
              <a:sym typeface="윤고딕"/>
            </a:endParaRP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6BD8C7E5-D5C8-7BCB-2472-EFE7423BD511}"/>
              </a:ext>
            </a:extLst>
          </p:cNvPr>
          <p:cNvSpPr txBox="1"/>
          <p:nvPr/>
        </p:nvSpPr>
        <p:spPr>
          <a:xfrm>
            <a:off x="381000" y="944123"/>
            <a:ext cx="2929224" cy="7764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6589"/>
              </a:lnSpc>
              <a:spcBef>
                <a:spcPct val="0"/>
              </a:spcBef>
            </a:pPr>
            <a:r>
              <a:rPr lang="ko-KR" altLang="en-US" sz="4706" spc="-65" dirty="0">
                <a:solidFill>
                  <a:srgbClr val="191919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  <a:sym typeface="윤고딕"/>
              </a:rPr>
              <a:t>공연 카드</a:t>
            </a:r>
            <a:endParaRPr lang="en-US" sz="4706" spc="-65" dirty="0">
              <a:solidFill>
                <a:srgbClr val="191919"/>
              </a:solidFill>
              <a:latin typeface="Pretendard Medium" panose="02000503000000020004" pitchFamily="2" charset="-127"/>
              <a:ea typeface="Pretendard Medium" panose="02000503000000020004" pitchFamily="2" charset="-127"/>
              <a:cs typeface="Pretendard Medium" panose="02000503000000020004" pitchFamily="2" charset="-127"/>
              <a:sym typeface="윤고딕"/>
            </a:endParaRPr>
          </a:p>
        </p:txBody>
      </p:sp>
      <p:pic>
        <p:nvPicPr>
          <p:cNvPr id="8" name="그림 7" descr="텍스트, 스크린샷, 소프트웨어, 컴퓨터 아이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3EC1E76-F5BB-9DD0-F8C6-3158A09A79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4799" y="2039100"/>
            <a:ext cx="12038400" cy="75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621214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-290868" y="10008764"/>
            <a:ext cx="18869735" cy="120011"/>
            <a:chOff x="0" y="0"/>
            <a:chExt cx="4969807" cy="3160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969807" cy="31608"/>
            </a:xfrm>
            <a:custGeom>
              <a:avLst/>
              <a:gdLst/>
              <a:ahLst/>
              <a:cxnLst/>
              <a:rect l="l" t="t" r="r" b="b"/>
              <a:pathLst>
                <a:path w="4969807" h="31608">
                  <a:moveTo>
                    <a:pt x="0" y="0"/>
                  </a:moveTo>
                  <a:lnTo>
                    <a:pt x="4969807" y="0"/>
                  </a:lnTo>
                  <a:lnTo>
                    <a:pt x="4969807" y="31608"/>
                  </a:lnTo>
                  <a:lnTo>
                    <a:pt x="0" y="31608"/>
                  </a:lnTo>
                  <a:close/>
                </a:path>
              </a:pathLst>
            </a:custGeom>
            <a:solidFill>
              <a:srgbClr val="191919"/>
            </a:solidFill>
            <a:ln w="19050" cap="sq">
              <a:solidFill>
                <a:srgbClr val="191919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4969807" cy="792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 rot="-594003">
            <a:off x="5749649" y="3240197"/>
            <a:ext cx="6461515" cy="27355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319"/>
              </a:lnSpc>
              <a:spcBef>
                <a:spcPct val="0"/>
              </a:spcBef>
            </a:pPr>
            <a:r>
              <a:rPr lang="en-US" sz="15942" dirty="0">
                <a:solidFill>
                  <a:srgbClr val="191919"/>
                </a:solidFill>
                <a:latin typeface="Beautifully Delicious Script"/>
                <a:ea typeface="Beautifully Delicious Script"/>
                <a:cs typeface="Beautifully Delicious Script"/>
                <a:sym typeface="Beautifully Delicious Script"/>
              </a:rPr>
              <a:t>Thank you!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56383C-0E9A-C1D5-85EA-1850A40A74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>
            <a:extLst>
              <a:ext uri="{FF2B5EF4-FFF2-40B4-BE49-F238E27FC236}">
                <a16:creationId xmlns:a16="http://schemas.microsoft.com/office/drawing/2014/main" id="{06D7D02A-7F35-EF8A-0D11-DB2D4E5A2943}"/>
              </a:ext>
            </a:extLst>
          </p:cNvPr>
          <p:cNvGrpSpPr/>
          <p:nvPr/>
        </p:nvGrpSpPr>
        <p:grpSpPr>
          <a:xfrm>
            <a:off x="-290868" y="10008764"/>
            <a:ext cx="18869735" cy="120011"/>
            <a:chOff x="0" y="0"/>
            <a:chExt cx="4969807" cy="31608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3AEC4D50-C77B-0E5D-E404-9BA0E927FF45}"/>
                </a:ext>
              </a:extLst>
            </p:cNvPr>
            <p:cNvSpPr/>
            <p:nvPr/>
          </p:nvSpPr>
          <p:spPr>
            <a:xfrm>
              <a:off x="0" y="0"/>
              <a:ext cx="4969807" cy="31608"/>
            </a:xfrm>
            <a:custGeom>
              <a:avLst/>
              <a:gdLst/>
              <a:ahLst/>
              <a:cxnLst/>
              <a:rect l="l" t="t" r="r" b="b"/>
              <a:pathLst>
                <a:path w="4969807" h="31608">
                  <a:moveTo>
                    <a:pt x="0" y="0"/>
                  </a:moveTo>
                  <a:lnTo>
                    <a:pt x="4969807" y="0"/>
                  </a:lnTo>
                  <a:lnTo>
                    <a:pt x="4969807" y="31608"/>
                  </a:lnTo>
                  <a:lnTo>
                    <a:pt x="0" y="31608"/>
                  </a:lnTo>
                  <a:close/>
                </a:path>
              </a:pathLst>
            </a:custGeom>
            <a:solidFill>
              <a:srgbClr val="191919"/>
            </a:solidFill>
            <a:ln w="19050" cap="sq">
              <a:solidFill>
                <a:srgbClr val="191919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EEA4B025-3193-9C3D-FAC7-38605D5B24A2}"/>
                </a:ext>
              </a:extLst>
            </p:cNvPr>
            <p:cNvSpPr txBox="1"/>
            <p:nvPr/>
          </p:nvSpPr>
          <p:spPr>
            <a:xfrm>
              <a:off x="0" y="-47625"/>
              <a:ext cx="4969807" cy="792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TextBox 6">
            <a:extLst>
              <a:ext uri="{FF2B5EF4-FFF2-40B4-BE49-F238E27FC236}">
                <a16:creationId xmlns:a16="http://schemas.microsoft.com/office/drawing/2014/main" id="{96B66FB4-4916-5C1E-AE08-DE633C0E6379}"/>
              </a:ext>
            </a:extLst>
          </p:cNvPr>
          <p:cNvSpPr txBox="1"/>
          <p:nvPr/>
        </p:nvSpPr>
        <p:spPr>
          <a:xfrm rot="-594003">
            <a:off x="5749649" y="3178074"/>
            <a:ext cx="6461515" cy="28597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319"/>
              </a:lnSpc>
              <a:spcBef>
                <a:spcPct val="0"/>
              </a:spcBef>
            </a:pPr>
            <a:r>
              <a:rPr lang="en-US" altLang="ko-KR" sz="15942" dirty="0">
                <a:solidFill>
                  <a:srgbClr val="191919"/>
                </a:solidFill>
                <a:latin typeface="Beautifully Delicious Script"/>
                <a:ea typeface="Beautifully Delicious Script"/>
                <a:cs typeface="Beautifully Delicious Script"/>
                <a:sym typeface="Beautifully Delicious Script"/>
              </a:rPr>
              <a:t>Q &amp; A</a:t>
            </a:r>
            <a:endParaRPr lang="en-US" sz="15942" dirty="0">
              <a:solidFill>
                <a:srgbClr val="191919"/>
              </a:solidFill>
              <a:latin typeface="Beautifully Delicious Script"/>
              <a:ea typeface="Beautifully Delicious Script"/>
              <a:cs typeface="Beautifully Delicious Script"/>
              <a:sym typeface="Beautifully Delicious Script"/>
            </a:endParaRPr>
          </a:p>
        </p:txBody>
      </p:sp>
    </p:spTree>
    <p:extLst>
      <p:ext uri="{BB962C8B-B14F-4D97-AF65-F5344CB8AC3E}">
        <p14:creationId xmlns:p14="http://schemas.microsoft.com/office/powerpoint/2010/main" val="23304618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1545</TotalTime>
  <Words>808</Words>
  <Application>Microsoft Macintosh PowerPoint</Application>
  <PresentationFormat>사용자 지정</PresentationFormat>
  <Paragraphs>168</Paragraphs>
  <Slides>31</Slides>
  <Notes>30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31</vt:i4>
      </vt:variant>
    </vt:vector>
  </HeadingPairs>
  <TitlesOfParts>
    <vt:vector size="39" baseType="lpstr">
      <vt:lpstr>Pretendard SemiBold</vt:lpstr>
      <vt:lpstr>Arial</vt:lpstr>
      <vt:lpstr>Pretendard Medium</vt:lpstr>
      <vt:lpstr>Beautifully Delicious Script</vt:lpstr>
      <vt:lpstr>Pretendard</vt:lpstr>
      <vt:lpstr>Calibri</vt:lpstr>
      <vt:lpstr>맑은 고딕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블랙 화이트 심플한 비지니스 프로젝트 프레젠테이션</dc:title>
  <dc:creator>김군도</dc:creator>
  <cp:lastModifiedBy>강성민</cp:lastModifiedBy>
  <cp:revision>11</cp:revision>
  <dcterms:created xsi:type="dcterms:W3CDTF">2006-08-16T00:00:00Z</dcterms:created>
  <dcterms:modified xsi:type="dcterms:W3CDTF">2025-12-12T06:47:58Z</dcterms:modified>
  <dc:identifier>DAG0kLVEx04</dc:identifier>
</cp:coreProperties>
</file>